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4" r:id="rId3"/>
    <p:sldId id="259" r:id="rId4"/>
    <p:sldId id="297" r:id="rId5"/>
    <p:sldId id="278" r:id="rId6"/>
    <p:sldId id="281" r:id="rId7"/>
    <p:sldId id="283" r:id="rId8"/>
    <p:sldId id="300" r:id="rId9"/>
    <p:sldId id="292" r:id="rId10"/>
    <p:sldId id="293" r:id="rId11"/>
    <p:sldId id="294" r:id="rId12"/>
    <p:sldId id="289" r:id="rId13"/>
    <p:sldId id="262" r:id="rId14"/>
    <p:sldId id="299" r:id="rId15"/>
    <p:sldId id="296" r:id="rId16"/>
    <p:sldId id="301" r:id="rId17"/>
    <p:sldId id="280" r:id="rId1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4E4F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34" autoAdjust="0"/>
  </p:normalViewPr>
  <p:slideViewPr>
    <p:cSldViewPr snapToGrid="0">
      <p:cViewPr>
        <p:scale>
          <a:sx n="66" d="100"/>
          <a:sy n="66" d="100"/>
        </p:scale>
        <p:origin x="1095" y="423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366EC6-3039-8EC9-8819-65C618D011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7831625-D000-82D7-6234-18F5B73DCF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11" indent="0" algn="ctr">
              <a:buNone/>
              <a:defRPr sz="2000"/>
            </a:lvl2pPr>
            <a:lvl3pPr marL="914422" indent="0" algn="ctr">
              <a:buNone/>
              <a:defRPr sz="1801"/>
            </a:lvl3pPr>
            <a:lvl4pPr marL="1371635" indent="0" algn="ctr">
              <a:buNone/>
              <a:defRPr sz="1600"/>
            </a:lvl4pPr>
            <a:lvl5pPr marL="1828846" indent="0" algn="ctr">
              <a:buNone/>
              <a:defRPr sz="1600"/>
            </a:lvl5pPr>
            <a:lvl6pPr marL="2286057" indent="0" algn="ctr">
              <a:buNone/>
              <a:defRPr sz="1600"/>
            </a:lvl6pPr>
            <a:lvl7pPr marL="2743268" indent="0" algn="ctr">
              <a:buNone/>
              <a:defRPr sz="1600"/>
            </a:lvl7pPr>
            <a:lvl8pPr marL="3200481" indent="0" algn="ctr">
              <a:buNone/>
              <a:defRPr sz="1600"/>
            </a:lvl8pPr>
            <a:lvl9pPr marL="3657692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F76A6B4-915A-F0E7-FB7F-698BCDF7A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C735D-3941-4948-87DC-52394F5E1645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BACDE3E-36E3-49E6-F7C7-DB4BF2496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8999EBF-1FF1-79C1-D948-E7F1DDC1F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99DCA-5AFC-4F7B-8F39-8CE33D81B4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54445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6DBD10-16BA-6D90-A155-A210A2AF2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3515CD4-4FA0-D910-9F67-F716965BF7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4C7F62C-EABD-535E-774F-17CF33D46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C735D-3941-4948-87DC-52394F5E1645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96A12D9-A81F-F48C-DD6A-F65484C93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4A06D09-56A1-0B74-B3FB-2830ED13D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99DCA-5AFC-4F7B-8F39-8CE33D81B4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3927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4DC071-07BB-927F-B0E2-7A8D300FF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3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2E9BE43-8B86-651A-E5B2-B931370226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3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11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22" indent="0">
              <a:buNone/>
              <a:defRPr sz="1801">
                <a:solidFill>
                  <a:schemeClr val="tx1">
                    <a:tint val="82000"/>
                  </a:schemeClr>
                </a:solidFill>
              </a:defRPr>
            </a:lvl3pPr>
            <a:lvl4pPr marL="1371635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46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57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68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81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92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A82D239-7CCA-F5C8-9837-27C97F176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C735D-3941-4948-87DC-52394F5E1645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3EC78EC-C729-75DE-3BC5-A8DA92F6F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A344DE0-E978-6153-39E6-67EEB11C5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99DCA-5AFC-4F7B-8F39-8CE33D81B4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95859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A89D4D-51E9-7033-B2D5-6B40CD9D4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879180F-D295-A950-EB0C-8F98767BE2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43B9B23-B486-9AF2-7359-2F0307589B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D4E2503-1BE2-339A-42FB-7CB806CD0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C735D-3941-4948-87DC-52394F5E1645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A37DDE1-D940-77BD-2089-79CF3183E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AD41638-5D5C-9246-E404-F28B0A8E6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99DCA-5AFC-4F7B-8F39-8CE33D81B4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1754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0ECD16-4D70-3D5D-B05A-983677DC6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9098D2A-8C66-15ED-9056-5F81C85EFA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91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11" indent="0">
              <a:buNone/>
              <a:defRPr sz="2000" b="1"/>
            </a:lvl2pPr>
            <a:lvl3pPr marL="914422" indent="0">
              <a:buNone/>
              <a:defRPr sz="1801" b="1"/>
            </a:lvl3pPr>
            <a:lvl4pPr marL="1371635" indent="0">
              <a:buNone/>
              <a:defRPr sz="1600" b="1"/>
            </a:lvl4pPr>
            <a:lvl5pPr marL="1828846" indent="0">
              <a:buNone/>
              <a:defRPr sz="1600" b="1"/>
            </a:lvl5pPr>
            <a:lvl6pPr marL="2286057" indent="0">
              <a:buNone/>
              <a:defRPr sz="1600" b="1"/>
            </a:lvl6pPr>
            <a:lvl7pPr marL="2743268" indent="0">
              <a:buNone/>
              <a:defRPr sz="1600" b="1"/>
            </a:lvl7pPr>
            <a:lvl8pPr marL="3200481" indent="0">
              <a:buNone/>
              <a:defRPr sz="1600" b="1"/>
            </a:lvl8pPr>
            <a:lvl9pPr marL="3657692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FF2182D-BBE0-3E76-80B8-B4EC280B42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91" y="2505076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1C51786-D9CD-9DDC-CF70-72757DE37A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3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11" indent="0">
              <a:buNone/>
              <a:defRPr sz="2000" b="1"/>
            </a:lvl2pPr>
            <a:lvl3pPr marL="914422" indent="0">
              <a:buNone/>
              <a:defRPr sz="1801" b="1"/>
            </a:lvl3pPr>
            <a:lvl4pPr marL="1371635" indent="0">
              <a:buNone/>
              <a:defRPr sz="1600" b="1"/>
            </a:lvl4pPr>
            <a:lvl5pPr marL="1828846" indent="0">
              <a:buNone/>
              <a:defRPr sz="1600" b="1"/>
            </a:lvl5pPr>
            <a:lvl6pPr marL="2286057" indent="0">
              <a:buNone/>
              <a:defRPr sz="1600" b="1"/>
            </a:lvl6pPr>
            <a:lvl7pPr marL="2743268" indent="0">
              <a:buNone/>
              <a:defRPr sz="1600" b="1"/>
            </a:lvl7pPr>
            <a:lvl8pPr marL="3200481" indent="0">
              <a:buNone/>
              <a:defRPr sz="1600" b="1"/>
            </a:lvl8pPr>
            <a:lvl9pPr marL="3657692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E10D1AC-5404-1830-BFC8-53954D6807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3" y="2505076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FBC0D58-5F4D-446B-53EB-718718A67C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C735D-3941-4948-87DC-52394F5E1645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130B185-F184-2A40-D2A0-E64C335C9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588BD4D-004F-09DC-2C14-058735C88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99DCA-5AFC-4F7B-8F39-8CE33D81B4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83377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6C30EE-F245-8D4B-EBD2-F8CB3111B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4530437-F0C6-F62F-732F-4FAAEEB78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C735D-3941-4948-87DC-52394F5E1645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73FE9F0-82E8-0A21-FDFF-5841DC4EC0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FDE34AD-D4DA-1199-FF23-BAE7AD3B9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99DCA-5AFC-4F7B-8F39-8CE33D81B4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60280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5EAA41A-8ECC-0357-CE40-CFA3700D9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C735D-3941-4948-87DC-52394F5E1645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FA8A1B7-64AA-077D-32DD-3BCAD1174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3F4F9A8-C737-FCA0-A555-4C59CD47D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99DCA-5AFC-4F7B-8F39-8CE33D81B4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10073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F59159-4BD7-B94F-A036-BBE96EF2E2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1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C39549F-892A-2CBA-C634-5629B4D0FF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90" y="987425"/>
            <a:ext cx="6172201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9699EA5-6F4F-2BC2-13BF-B1503BF4E6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91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11" indent="0">
              <a:buNone/>
              <a:defRPr sz="1401"/>
            </a:lvl2pPr>
            <a:lvl3pPr marL="914422" indent="0">
              <a:buNone/>
              <a:defRPr sz="1200"/>
            </a:lvl3pPr>
            <a:lvl4pPr marL="1371635" indent="0">
              <a:buNone/>
              <a:defRPr sz="1001"/>
            </a:lvl4pPr>
            <a:lvl5pPr marL="1828846" indent="0">
              <a:buNone/>
              <a:defRPr sz="1001"/>
            </a:lvl5pPr>
            <a:lvl6pPr marL="2286057" indent="0">
              <a:buNone/>
              <a:defRPr sz="1001"/>
            </a:lvl6pPr>
            <a:lvl7pPr marL="2743268" indent="0">
              <a:buNone/>
              <a:defRPr sz="1001"/>
            </a:lvl7pPr>
            <a:lvl8pPr marL="3200481" indent="0">
              <a:buNone/>
              <a:defRPr sz="1001"/>
            </a:lvl8pPr>
            <a:lvl9pPr marL="3657692" indent="0">
              <a:buNone/>
              <a:defRPr sz="100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2F583DB-447C-B853-CA85-023FA6A4C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C735D-3941-4948-87DC-52394F5E1645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2C8AB62-5D9B-6A13-FB01-867E29FF3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1B4570E-2848-F655-3493-6E6A849AA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99DCA-5AFC-4F7B-8F39-8CE33D81B4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62988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1C28E9-3BA2-D31A-5836-FD85A9B3E3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1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80820F0-9308-A929-D509-8CE7125612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90" y="987425"/>
            <a:ext cx="6172201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11" indent="0">
              <a:buNone/>
              <a:defRPr sz="2800"/>
            </a:lvl2pPr>
            <a:lvl3pPr marL="914422" indent="0">
              <a:buNone/>
              <a:defRPr sz="2400"/>
            </a:lvl3pPr>
            <a:lvl4pPr marL="1371635" indent="0">
              <a:buNone/>
              <a:defRPr sz="2000"/>
            </a:lvl4pPr>
            <a:lvl5pPr marL="1828846" indent="0">
              <a:buNone/>
              <a:defRPr sz="2000"/>
            </a:lvl5pPr>
            <a:lvl6pPr marL="2286057" indent="0">
              <a:buNone/>
              <a:defRPr sz="2000"/>
            </a:lvl6pPr>
            <a:lvl7pPr marL="2743268" indent="0">
              <a:buNone/>
              <a:defRPr sz="2000"/>
            </a:lvl7pPr>
            <a:lvl8pPr marL="3200481" indent="0">
              <a:buNone/>
              <a:defRPr sz="2000"/>
            </a:lvl8pPr>
            <a:lvl9pPr marL="3657692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44061C9-1C64-60AC-A05B-6FBE0DE37E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91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11" indent="0">
              <a:buNone/>
              <a:defRPr sz="1401"/>
            </a:lvl2pPr>
            <a:lvl3pPr marL="914422" indent="0">
              <a:buNone/>
              <a:defRPr sz="1200"/>
            </a:lvl3pPr>
            <a:lvl4pPr marL="1371635" indent="0">
              <a:buNone/>
              <a:defRPr sz="1001"/>
            </a:lvl4pPr>
            <a:lvl5pPr marL="1828846" indent="0">
              <a:buNone/>
              <a:defRPr sz="1001"/>
            </a:lvl5pPr>
            <a:lvl6pPr marL="2286057" indent="0">
              <a:buNone/>
              <a:defRPr sz="1001"/>
            </a:lvl6pPr>
            <a:lvl7pPr marL="2743268" indent="0">
              <a:buNone/>
              <a:defRPr sz="1001"/>
            </a:lvl7pPr>
            <a:lvl8pPr marL="3200481" indent="0">
              <a:buNone/>
              <a:defRPr sz="1001"/>
            </a:lvl8pPr>
            <a:lvl9pPr marL="3657692" indent="0">
              <a:buNone/>
              <a:defRPr sz="100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50599BC-2FC2-065B-2F59-4988CAE1A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C735D-3941-4948-87DC-52394F5E1645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825D769-A70B-A67E-7729-78BDC36C3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CF4E1A8-3C5E-31CA-06C4-47518830A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99DCA-5AFC-4F7B-8F39-8CE33D81B4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34675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30A8F4-AF13-4866-4C3F-0CA368339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86B59D3-30A2-0A66-CA5B-8BD758BA38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732800D-7E9D-F21E-5200-55AB9E213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C735D-3941-4948-87DC-52394F5E1645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C786227-2103-5D44-307E-F0BAD14388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C7C3F2E-C979-2126-01E8-057E18A52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99DCA-5AFC-4F7B-8F39-8CE33D81B4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61029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9F6B315-F55F-49D3-5A98-67743F007B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899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E030BEA-D791-8CBE-317B-896A0F1B86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199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28B48F7-01AD-CC3E-87A9-52F1A0CD7F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C735D-3941-4948-87DC-52394F5E1645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F6F9A0A-5454-3760-72FC-9D6881656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690A101-0F81-0BBC-A651-BF3A80984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99DCA-5AFC-4F7B-8F39-8CE33D81B4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66719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A4AEB9A-8F1C-1129-EB45-656139AC6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4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783867A-35DB-446B-5930-EA32D1ADA8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4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ED0EF88-DEFF-3726-E161-9FD929A7CC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1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DC735D-3941-4948-87DC-52394F5E1645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C5F6E62-F7F0-03E1-FA0A-7AF8E76E5E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4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3657F7E-9D6A-4F40-BCF4-79B3705DA5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1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899DCA-5AFC-4F7B-8F39-8CE33D81B4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3630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22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7" indent="-228607" algn="l" defTabSz="914422" rtl="0" eaLnBrk="1" latinLnBrk="1" hangingPunct="1">
        <a:lnSpc>
          <a:spcPct val="90000"/>
        </a:lnSpc>
        <a:spcBef>
          <a:spcPts val="1001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18" indent="-228607" algn="l" defTabSz="914422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29" indent="-228607" algn="l" defTabSz="914422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40" indent="-228607" algn="l" defTabSz="914422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53" indent="-228607" algn="l" defTabSz="914422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64" indent="-228607" algn="l" defTabSz="914422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971875" indent="-228607" algn="l" defTabSz="914422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429086" indent="-228607" algn="l" defTabSz="914422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886297" indent="-228607" algn="l" defTabSz="914422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22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211" algn="l" defTabSz="914422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422" algn="l" defTabSz="914422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35" algn="l" defTabSz="914422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46" algn="l" defTabSz="914422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57" algn="l" defTabSz="914422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8" algn="l" defTabSz="914422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81" algn="l" defTabSz="914422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92" algn="l" defTabSz="914422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.png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AA30AF-4734-856C-7332-1323D0733BC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FPGA </a:t>
            </a:r>
            <a:r>
              <a:rPr lang="ko-KR" altLang="en-US" dirty="0"/>
              <a:t>설계</a:t>
            </a:r>
            <a:br>
              <a:rPr lang="en-US" altLang="ko-KR" dirty="0"/>
            </a:br>
            <a:endParaRPr lang="ko-KR" altLang="en-US" sz="40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B05F710-D050-1351-8499-E710C551BF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133599"/>
          </a:xfrm>
        </p:spPr>
        <p:txBody>
          <a:bodyPr>
            <a:normAutofit lnSpcReduction="10000"/>
          </a:bodyPr>
          <a:lstStyle/>
          <a:p>
            <a:r>
              <a:rPr lang="en-US" altLang="ko-KR" dirty="0"/>
              <a:t>Term project</a:t>
            </a:r>
          </a:p>
          <a:p>
            <a:r>
              <a:rPr lang="en-US" altLang="ko-KR" dirty="0"/>
              <a:t>&lt;Lap </a:t>
            </a:r>
            <a:r>
              <a:rPr lang="ko-KR" altLang="en-US" dirty="0"/>
              <a:t>기능을 추가한 </a:t>
            </a:r>
            <a:r>
              <a:rPr lang="en-US" altLang="ko-KR" dirty="0"/>
              <a:t>Stopwatch&gt;</a:t>
            </a:r>
          </a:p>
          <a:p>
            <a:endParaRPr lang="en-US" altLang="ko-KR" dirty="0"/>
          </a:p>
          <a:p>
            <a:r>
              <a:rPr lang="ko-KR" altLang="en-US" dirty="0"/>
              <a:t>학번</a:t>
            </a:r>
            <a:r>
              <a:rPr lang="en-US" altLang="ko-KR" dirty="0"/>
              <a:t>: 20211494, 20232928</a:t>
            </a:r>
          </a:p>
          <a:p>
            <a:r>
              <a:rPr lang="ko-KR" altLang="en-US" dirty="0"/>
              <a:t>이름</a:t>
            </a:r>
            <a:r>
              <a:rPr lang="en-US" altLang="ko-KR" dirty="0"/>
              <a:t>: </a:t>
            </a:r>
            <a:r>
              <a:rPr lang="ko-KR" altLang="en-US" dirty="0"/>
              <a:t>윤중현</a:t>
            </a:r>
            <a:r>
              <a:rPr lang="en-US" altLang="ko-KR" dirty="0"/>
              <a:t>, </a:t>
            </a:r>
            <a:r>
              <a:rPr lang="ko-KR" altLang="en-US" dirty="0"/>
              <a:t>오민재</a:t>
            </a:r>
          </a:p>
        </p:txBody>
      </p:sp>
    </p:spTree>
    <p:extLst>
      <p:ext uri="{BB962C8B-B14F-4D97-AF65-F5344CB8AC3E}">
        <p14:creationId xmlns:p14="http://schemas.microsoft.com/office/powerpoint/2010/main" val="29047862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D67A732-9A64-86F0-E29D-9119203328DA}"/>
              </a:ext>
            </a:extLst>
          </p:cNvPr>
          <p:cNvSpPr txBox="1"/>
          <p:nvPr/>
        </p:nvSpPr>
        <p:spPr>
          <a:xfrm>
            <a:off x="648929" y="512817"/>
            <a:ext cx="10894142" cy="4792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fontAlgn="base" latinLnBrk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ko-KR" altLang="en-US" sz="6600" dirty="0"/>
              <a:t>목차</a:t>
            </a:r>
            <a:endParaRPr lang="en-US" altLang="ko-KR" sz="6600" dirty="0"/>
          </a:p>
          <a:p>
            <a:pPr lvl="0" fontAlgn="base" latinLnBrk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altLang="ko-KR" sz="4000" dirty="0"/>
          </a:p>
          <a:p>
            <a:pPr lvl="0" fontAlgn="base" latinLnBrk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ko-KR" sz="4000" dirty="0"/>
              <a:t>1. </a:t>
            </a:r>
            <a:r>
              <a:rPr lang="ko-KR" altLang="en-US" sz="4000" dirty="0"/>
              <a:t>시나리오</a:t>
            </a:r>
            <a:endParaRPr kumimoji="0" lang="en-US" altLang="ko-KR" sz="4000" b="0" i="0" u="none" strike="noStrike" cap="none" normalizeH="0" baseline="0" dirty="0">
              <a:ln>
                <a:noFill/>
              </a:ln>
              <a:effectLst/>
            </a:endParaRPr>
          </a:p>
          <a:p>
            <a:pPr lvl="0" fontAlgn="base" latinLnBrk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ko-KR" sz="4000" dirty="0"/>
              <a:t>2. </a:t>
            </a:r>
            <a:r>
              <a:rPr lang="ko-KR" altLang="en-US" sz="4000" dirty="0"/>
              <a:t>역할 분담</a:t>
            </a:r>
            <a:endParaRPr lang="en-US" altLang="ko-KR" sz="4000" dirty="0"/>
          </a:p>
          <a:p>
            <a:pPr lvl="0" fontAlgn="base" latinLnBrk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ko-KR" sz="4000" dirty="0"/>
              <a:t>3.</a:t>
            </a:r>
            <a:r>
              <a:rPr lang="ko-KR" altLang="en-US" sz="4000" dirty="0"/>
              <a:t> 코드 설명</a:t>
            </a:r>
            <a:endParaRPr lang="en-US" altLang="ko-KR" sz="4000" dirty="0"/>
          </a:p>
          <a:p>
            <a:pPr lvl="0" fontAlgn="base" latinLnBrk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ko-KR" sz="4000" dirty="0"/>
              <a:t>4.</a:t>
            </a:r>
            <a:r>
              <a:rPr lang="ko-KR" altLang="en-US" sz="4000" dirty="0"/>
              <a:t> 시뮬레이션 검증</a:t>
            </a:r>
            <a:endParaRPr lang="en-US" altLang="ko-KR" sz="4000" dirty="0"/>
          </a:p>
          <a:p>
            <a:pPr lvl="0" fontAlgn="base" latinLnBrk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ko-KR" sz="4000" dirty="0"/>
              <a:t>5. FPGA</a:t>
            </a:r>
            <a:r>
              <a:rPr lang="ko-KR" altLang="en-US" sz="4000" dirty="0"/>
              <a:t> 보드 검증</a:t>
            </a:r>
            <a:endParaRPr kumimoji="0" lang="en-US" altLang="ko-KR" sz="2000" b="0" i="0" u="none" strike="noStrike" cap="none" normalizeH="0" baseline="0" dirty="0">
              <a:ln>
                <a:noFill/>
              </a:ln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8863111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2B672-1133-6CCB-D1A0-E2EE153BD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3EB8E9-3E97-2FFE-A036-57B8564BEB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4" y="9993"/>
            <a:ext cx="10515600" cy="1325563"/>
          </a:xfrm>
        </p:spPr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시나리오</a:t>
            </a:r>
          </a:p>
        </p:txBody>
      </p:sp>
      <p:pic>
        <p:nvPicPr>
          <p:cNvPr id="8" name="그림 7" descr="텍스트, 도표, 스크린샷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1AE1D84-A5E4-7AA4-3625-14CD62F9996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281" r="22689"/>
          <a:stretch>
            <a:fillRect/>
          </a:stretch>
        </p:blipFill>
        <p:spPr>
          <a:xfrm>
            <a:off x="7470054" y="544679"/>
            <a:ext cx="3883742" cy="3111737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923F6B10-C07B-2018-7F94-203575C63773}"/>
              </a:ext>
            </a:extLst>
          </p:cNvPr>
          <p:cNvSpPr/>
          <p:nvPr/>
        </p:nvSpPr>
        <p:spPr>
          <a:xfrm>
            <a:off x="7640158" y="1030756"/>
            <a:ext cx="884903" cy="74888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1ABA2B85-1C22-2F3E-1094-0909EBA454DE}"/>
              </a:ext>
            </a:extLst>
          </p:cNvPr>
          <p:cNvCxnSpPr>
            <a:cxnSpLocks/>
            <a:stCxn id="9" idx="1"/>
          </p:cNvCxnSpPr>
          <p:nvPr/>
        </p:nvCxnSpPr>
        <p:spPr>
          <a:xfrm flipH="1">
            <a:off x="7130066" y="1405198"/>
            <a:ext cx="510092" cy="246871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3912AF3B-78DE-5C0B-5362-B1E1C48F06D0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8525061" y="1405198"/>
            <a:ext cx="639955" cy="246871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" name="그림 16" descr="텍스트, 스크린샷, 도표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1CE940D-8B74-7D6A-1F97-FA8E0CA431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0066" y="3873910"/>
            <a:ext cx="2034950" cy="2679289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DEA66718-791D-5489-CD31-1A7C7503DA4E}"/>
              </a:ext>
            </a:extLst>
          </p:cNvPr>
          <p:cNvSpPr/>
          <p:nvPr/>
        </p:nvSpPr>
        <p:spPr>
          <a:xfrm>
            <a:off x="7909564" y="5161935"/>
            <a:ext cx="1211333" cy="10520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0D50E192-BA86-ACC5-B7AA-73148D639B90}"/>
              </a:ext>
            </a:extLst>
          </p:cNvPr>
          <p:cNvSpPr/>
          <p:nvPr/>
        </p:nvSpPr>
        <p:spPr>
          <a:xfrm>
            <a:off x="8902555" y="1011091"/>
            <a:ext cx="884903" cy="235154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6E1AA202-AEF6-E6A4-167A-68AF8595B6CF}"/>
              </a:ext>
            </a:extLst>
          </p:cNvPr>
          <p:cNvSpPr/>
          <p:nvPr/>
        </p:nvSpPr>
        <p:spPr>
          <a:xfrm>
            <a:off x="8530552" y="4027884"/>
            <a:ext cx="549455" cy="109643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4262C89-7D1D-8820-CFBD-617808584EAD}"/>
              </a:ext>
            </a:extLst>
          </p:cNvPr>
          <p:cNvSpPr txBox="1"/>
          <p:nvPr/>
        </p:nvSpPr>
        <p:spPr>
          <a:xfrm>
            <a:off x="682559" y="1142099"/>
            <a:ext cx="556260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/>
              <a:t>기존 타이머에 </a:t>
            </a:r>
            <a:r>
              <a:rPr lang="en-US" altLang="ko-KR" sz="1600" dirty="0"/>
              <a:t>stopwatch </a:t>
            </a:r>
            <a:r>
              <a:rPr lang="ko-KR" altLang="en-US" sz="1600" dirty="0"/>
              <a:t>기능과 더불어 </a:t>
            </a:r>
            <a:r>
              <a:rPr lang="en-US" altLang="ko-KR" sz="1600" dirty="0"/>
              <a:t>stopwatch</a:t>
            </a:r>
            <a:r>
              <a:rPr lang="ko-KR" altLang="en-US" sz="1600" dirty="0"/>
              <a:t>의 표기 시간을 저장하는 기능</a:t>
            </a:r>
            <a:r>
              <a:rPr lang="en-US" altLang="ko-KR" sz="1600" dirty="0"/>
              <a:t>(</a:t>
            </a:r>
            <a:r>
              <a:rPr lang="ko-KR" altLang="en-US" sz="1600" dirty="0"/>
              <a:t>랩</a:t>
            </a:r>
            <a:r>
              <a:rPr lang="en-US" altLang="ko-KR" sz="1600" dirty="0"/>
              <a:t>)</a:t>
            </a:r>
            <a:r>
              <a:rPr lang="ko-KR" altLang="en-US" sz="1600" dirty="0"/>
              <a:t>을 추가 하여 </a:t>
            </a:r>
            <a:r>
              <a:rPr lang="en-US" altLang="ko-KR" sz="1600" dirty="0"/>
              <a:t>timer</a:t>
            </a:r>
            <a:r>
              <a:rPr lang="ko-KR" altLang="en-US" sz="1600" dirty="0"/>
              <a:t>와 </a:t>
            </a:r>
            <a:r>
              <a:rPr lang="en-US" altLang="ko-KR" sz="1600" dirty="0"/>
              <a:t>stopwatch</a:t>
            </a:r>
            <a:r>
              <a:rPr lang="ko-KR" altLang="en-US" sz="1600" dirty="0"/>
              <a:t>을 탑재한 다중기능의 보드 설계</a:t>
            </a:r>
            <a:endParaRPr lang="en-US" altLang="ko-KR" sz="16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8EF5CC1-4332-453C-430E-04B862B293C5}"/>
              </a:ext>
            </a:extLst>
          </p:cNvPr>
          <p:cNvSpPr txBox="1"/>
          <p:nvPr/>
        </p:nvSpPr>
        <p:spPr>
          <a:xfrm>
            <a:off x="682559" y="2320985"/>
            <a:ext cx="5562604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구현 기능</a:t>
            </a:r>
            <a:r>
              <a:rPr lang="en-US" altLang="ko-KR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Timer </a:t>
            </a:r>
            <a:r>
              <a:rPr lang="ko-KR" altLang="en-US" dirty="0"/>
              <a:t>↔ </a:t>
            </a:r>
            <a:r>
              <a:rPr lang="en-US" altLang="ko-KR" dirty="0"/>
              <a:t>stopwatch</a:t>
            </a:r>
          </a:p>
          <a:p>
            <a:r>
              <a:rPr lang="ko-KR" altLang="en-US" dirty="0"/>
              <a:t>     </a:t>
            </a:r>
            <a:r>
              <a:rPr lang="en-US" altLang="ko-KR" dirty="0"/>
              <a:t>: </a:t>
            </a:r>
            <a:r>
              <a:rPr lang="ko-KR" altLang="en-US" dirty="0"/>
              <a:t>양방향 전환 가능한 버튼 생성</a:t>
            </a:r>
            <a:endParaRPr lang="en-US" altLang="ko-KR" dirty="0"/>
          </a:p>
          <a:p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Lap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저장기능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     : stopwatch</a:t>
            </a:r>
            <a:r>
              <a:rPr lang="ko-KR" altLang="en-US" dirty="0"/>
              <a:t>의 시간을 레지스터에 저장</a:t>
            </a:r>
            <a:endParaRPr lang="en-US" altLang="ko-KR" dirty="0"/>
          </a:p>
          <a:p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Lap </a:t>
            </a:r>
            <a:r>
              <a:rPr lang="ko-KR" altLang="en-US" dirty="0"/>
              <a:t>개수 </a:t>
            </a:r>
            <a:r>
              <a:rPr lang="en-US" altLang="ko-KR" dirty="0"/>
              <a:t>led</a:t>
            </a:r>
            <a:r>
              <a:rPr lang="ko-KR" altLang="en-US" dirty="0"/>
              <a:t> 표시</a:t>
            </a:r>
            <a:endParaRPr lang="en-US" altLang="ko-KR" dirty="0"/>
          </a:p>
          <a:p>
            <a:r>
              <a:rPr lang="en-US" altLang="ko-KR" dirty="0"/>
              <a:t>     : </a:t>
            </a:r>
            <a:r>
              <a:rPr lang="ko-KR" altLang="en-US" dirty="0"/>
              <a:t>저장된 랩 타임 숫자만큼 </a:t>
            </a:r>
            <a:r>
              <a:rPr lang="en-US" altLang="ko-KR" dirty="0"/>
              <a:t>led</a:t>
            </a:r>
            <a:r>
              <a:rPr lang="ko-KR" altLang="en-US" dirty="0"/>
              <a:t> 불빛 개수로 표시</a:t>
            </a:r>
            <a:endParaRPr lang="en-US" altLang="ko-KR" dirty="0"/>
          </a:p>
          <a:p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Lap time display</a:t>
            </a:r>
          </a:p>
          <a:p>
            <a:r>
              <a:rPr lang="en-US" altLang="ko-KR" dirty="0"/>
              <a:t>     : </a:t>
            </a:r>
            <a:r>
              <a:rPr lang="ko-KR" altLang="en-US" dirty="0"/>
              <a:t>앞서 저장된 디스플레이로 송출</a:t>
            </a:r>
            <a:endParaRPr lang="en-US" altLang="ko-KR" dirty="0"/>
          </a:p>
          <a:p>
            <a:endParaRPr lang="en-US" altLang="ko-KR" dirty="0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B4DAB016-DEFC-7C23-EFDE-4B099D0F8C3F}"/>
              </a:ext>
            </a:extLst>
          </p:cNvPr>
          <p:cNvSpPr/>
          <p:nvPr/>
        </p:nvSpPr>
        <p:spPr>
          <a:xfrm>
            <a:off x="7641020" y="2938516"/>
            <a:ext cx="884904" cy="46499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273041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19B2A2-8163-0165-38E6-5F23B6140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F62FF8-1682-F4E6-9154-FF52468242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4" y="9993"/>
            <a:ext cx="10515600" cy="1325563"/>
          </a:xfrm>
        </p:spPr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시나리오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D688BB5-D192-7EA3-515B-4874904259E1}"/>
              </a:ext>
            </a:extLst>
          </p:cNvPr>
          <p:cNvSpPr txBox="1"/>
          <p:nvPr/>
        </p:nvSpPr>
        <p:spPr>
          <a:xfrm>
            <a:off x="653062" y="1363633"/>
            <a:ext cx="55626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Timer</a:t>
            </a:r>
            <a:r>
              <a:rPr lang="ko-KR" altLang="en-US" dirty="0"/>
              <a:t> 기능에서 활용하지 않은 </a:t>
            </a:r>
            <a:r>
              <a:rPr lang="en-US" altLang="ko-KR" dirty="0"/>
              <a:t>Key button</a:t>
            </a:r>
            <a:r>
              <a:rPr lang="ko-KR" altLang="en-US" dirty="0"/>
              <a:t>으로 구현하고자 하는 기능 추가하기</a:t>
            </a:r>
            <a:endParaRPr lang="en-US" altLang="ko-KR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5E88D32-C31F-0D74-E439-1A2FF6589418}"/>
              </a:ext>
            </a:extLst>
          </p:cNvPr>
          <p:cNvSpPr txBox="1"/>
          <p:nvPr/>
        </p:nvSpPr>
        <p:spPr>
          <a:xfrm>
            <a:off x="879212" y="2585878"/>
            <a:ext cx="556260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구현 기능</a:t>
            </a:r>
            <a:r>
              <a:rPr lang="en-US" altLang="ko-KR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FF0000"/>
                </a:solidFill>
              </a:rPr>
              <a:t>Key</a:t>
            </a:r>
            <a:r>
              <a:rPr lang="ko-KR" altLang="en-US" dirty="0">
                <a:solidFill>
                  <a:srgbClr val="FF0000"/>
                </a:solidFill>
              </a:rPr>
              <a:t> </a:t>
            </a:r>
            <a:r>
              <a:rPr lang="en-US" altLang="ko-KR" dirty="0">
                <a:solidFill>
                  <a:srgbClr val="FF0000"/>
                </a:solidFill>
              </a:rPr>
              <a:t>20</a:t>
            </a:r>
            <a:r>
              <a:rPr lang="ko-KR" altLang="en-US" dirty="0">
                <a:solidFill>
                  <a:srgbClr val="FF0000"/>
                </a:solidFill>
              </a:rPr>
              <a:t> </a:t>
            </a:r>
            <a:r>
              <a:rPr lang="en-US" altLang="ko-KR" dirty="0"/>
              <a:t>(Timer, stopwatch)</a:t>
            </a:r>
          </a:p>
          <a:p>
            <a:r>
              <a:rPr lang="en-US" altLang="ko-KR" dirty="0"/>
              <a:t>     : timer</a:t>
            </a:r>
            <a:r>
              <a:rPr lang="ko-KR" altLang="en-US" dirty="0"/>
              <a:t>와</a:t>
            </a:r>
            <a:r>
              <a:rPr lang="en-US" altLang="ko-KR" dirty="0"/>
              <a:t> stopwatch</a:t>
            </a:r>
            <a:r>
              <a:rPr lang="ko-KR" altLang="en-US" dirty="0"/>
              <a:t>의 모드 전환</a:t>
            </a:r>
            <a:endParaRPr lang="en-US" altLang="ko-KR" dirty="0"/>
          </a:p>
          <a:p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00B0F0"/>
                </a:solidFill>
              </a:rPr>
              <a:t>Key 15 </a:t>
            </a:r>
            <a:r>
              <a:rPr lang="en-US" altLang="ko-KR" dirty="0"/>
              <a:t>(Stopwatch)</a:t>
            </a:r>
          </a:p>
          <a:p>
            <a:r>
              <a:rPr lang="en-US" altLang="ko-KR" dirty="0"/>
              <a:t>     : stopwatch</a:t>
            </a:r>
            <a:r>
              <a:rPr lang="ko-KR" altLang="en-US" dirty="0"/>
              <a:t>의 현재 시간을 저장</a:t>
            </a:r>
            <a:r>
              <a:rPr lang="en-US" altLang="ko-KR" dirty="0"/>
              <a:t>(Lap)</a:t>
            </a:r>
          </a:p>
          <a:p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00B0F0"/>
                </a:solidFill>
              </a:rPr>
              <a:t>Key</a:t>
            </a:r>
            <a:r>
              <a:rPr lang="ko-KR" altLang="en-US" dirty="0">
                <a:solidFill>
                  <a:srgbClr val="00B0F0"/>
                </a:solidFill>
              </a:rPr>
              <a:t> </a:t>
            </a:r>
            <a:r>
              <a:rPr lang="en-US" altLang="ko-KR" dirty="0">
                <a:solidFill>
                  <a:srgbClr val="00B0F0"/>
                </a:solidFill>
              </a:rPr>
              <a:t>10 </a:t>
            </a:r>
            <a:r>
              <a:rPr lang="en-US" altLang="ko-KR" dirty="0"/>
              <a:t>(Stopwatch)</a:t>
            </a:r>
          </a:p>
          <a:p>
            <a:r>
              <a:rPr lang="en-US" altLang="ko-KR" dirty="0"/>
              <a:t>     : </a:t>
            </a:r>
            <a:r>
              <a:rPr lang="ko-KR" altLang="en-US" dirty="0"/>
              <a:t>저장된 랩 타임을 </a:t>
            </a:r>
            <a:r>
              <a:rPr lang="en-US" altLang="ko-KR" dirty="0"/>
              <a:t>7-segment</a:t>
            </a:r>
            <a:r>
              <a:rPr lang="ko-KR" altLang="en-US" dirty="0"/>
              <a:t>에</a:t>
            </a:r>
            <a:r>
              <a:rPr lang="en-US" altLang="ko-KR" dirty="0"/>
              <a:t> </a:t>
            </a:r>
            <a:r>
              <a:rPr lang="ko-KR" altLang="en-US" dirty="0"/>
              <a:t>표시</a:t>
            </a:r>
            <a:endParaRPr lang="en-US" altLang="ko-KR" dirty="0"/>
          </a:p>
        </p:txBody>
      </p:sp>
      <p:pic>
        <p:nvPicPr>
          <p:cNvPr id="4" name="그림 3" descr="텍스트, 스크린샷, 사각형, 직사각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73C47F0-5385-06D0-941D-158AF78C27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2292" y="2161097"/>
            <a:ext cx="4601512" cy="3010104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CB7AD3F3-E88A-E571-8DE5-8AA5D4AF9D7C}"/>
              </a:ext>
            </a:extLst>
          </p:cNvPr>
          <p:cNvSpPr/>
          <p:nvPr/>
        </p:nvSpPr>
        <p:spPr>
          <a:xfrm>
            <a:off x="10284307" y="2545990"/>
            <a:ext cx="705730" cy="50930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2BE2DE8-B535-A2D9-C8C2-86139CC52BC5}"/>
              </a:ext>
            </a:extLst>
          </p:cNvPr>
          <p:cNvSpPr/>
          <p:nvPr/>
        </p:nvSpPr>
        <p:spPr>
          <a:xfrm>
            <a:off x="10289224" y="3150671"/>
            <a:ext cx="705730" cy="509306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0F96BAB-A6EF-62D0-6167-8E19939E74EF}"/>
              </a:ext>
            </a:extLst>
          </p:cNvPr>
          <p:cNvSpPr/>
          <p:nvPr/>
        </p:nvSpPr>
        <p:spPr>
          <a:xfrm>
            <a:off x="10294140" y="3745518"/>
            <a:ext cx="705730" cy="509306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07230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B5A642-3611-2AC1-2B49-AD3ACBD76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8D5A20-2344-4ECB-F74D-23FF8C5AB0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3758"/>
            <a:ext cx="10515600" cy="1325563"/>
          </a:xfrm>
        </p:spPr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역할 분담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257806-9D2C-20D0-AA46-617CBF8FDADE}"/>
              </a:ext>
            </a:extLst>
          </p:cNvPr>
          <p:cNvSpPr txBox="1"/>
          <p:nvPr/>
        </p:nvSpPr>
        <p:spPr>
          <a:xfrm>
            <a:off x="905799" y="2055440"/>
            <a:ext cx="10380402" cy="3108543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2800" dirty="0">
                <a:latin typeface="+mn-ea"/>
              </a:rPr>
              <a:t>윤중현</a:t>
            </a:r>
            <a:r>
              <a:rPr lang="en-US" altLang="ko-KR" sz="2800" dirty="0">
                <a:latin typeface="+mn-ea"/>
              </a:rPr>
              <a:t>: </a:t>
            </a:r>
          </a:p>
          <a:p>
            <a:pPr marL="514350" indent="-514350">
              <a:buAutoNum type="arabicPeriod"/>
            </a:pPr>
            <a:r>
              <a:rPr lang="en-US" altLang="ko-KR" sz="2800" dirty="0">
                <a:latin typeface="+mn-ea"/>
              </a:rPr>
              <a:t>Stopwatch </a:t>
            </a:r>
            <a:r>
              <a:rPr lang="ko-KR" altLang="en-US" sz="2800" dirty="0">
                <a:latin typeface="+mn-ea"/>
              </a:rPr>
              <a:t>기능 추가</a:t>
            </a:r>
            <a:r>
              <a:rPr lang="en-US" altLang="ko-KR" sz="2800" dirty="0">
                <a:latin typeface="+mn-ea"/>
              </a:rPr>
              <a:t> </a:t>
            </a:r>
          </a:p>
          <a:p>
            <a:pPr marL="514350" indent="-514350">
              <a:buAutoNum type="arabicPeriod"/>
            </a:pPr>
            <a:r>
              <a:rPr lang="en-US" altLang="ko-KR" sz="2800" dirty="0">
                <a:latin typeface="+mn-ea"/>
              </a:rPr>
              <a:t>Lap</a:t>
            </a:r>
            <a:r>
              <a:rPr lang="ko-KR" altLang="en-US" sz="2800" dirty="0">
                <a:latin typeface="+mn-ea"/>
              </a:rPr>
              <a:t>기능 추가</a:t>
            </a:r>
            <a:endParaRPr lang="en-US" altLang="ko-KR" sz="2800" dirty="0">
              <a:latin typeface="+mn-ea"/>
            </a:endParaRPr>
          </a:p>
          <a:p>
            <a:endParaRPr lang="en-US" altLang="ko-KR" sz="2800" dirty="0">
              <a:latin typeface="+mn-ea"/>
            </a:endParaRPr>
          </a:p>
          <a:p>
            <a:r>
              <a:rPr lang="ko-KR" altLang="en-US" sz="2800" dirty="0">
                <a:latin typeface="+mn-ea"/>
              </a:rPr>
              <a:t>오민재</a:t>
            </a:r>
            <a:r>
              <a:rPr lang="en-US" altLang="ko-KR" sz="2800" dirty="0">
                <a:latin typeface="+mn-ea"/>
              </a:rPr>
              <a:t>: </a:t>
            </a:r>
          </a:p>
          <a:p>
            <a:r>
              <a:rPr lang="en-US" altLang="ko-KR" sz="2800" dirty="0">
                <a:latin typeface="+mn-ea"/>
              </a:rPr>
              <a:t>3.  Lap</a:t>
            </a:r>
            <a:r>
              <a:rPr lang="ko-KR" altLang="en-US" sz="2800" dirty="0">
                <a:latin typeface="+mn-ea"/>
              </a:rPr>
              <a:t> </a:t>
            </a:r>
            <a:r>
              <a:rPr lang="en-US" altLang="ko-KR" sz="2800" dirty="0">
                <a:latin typeface="+mn-ea"/>
              </a:rPr>
              <a:t>time</a:t>
            </a:r>
            <a:r>
              <a:rPr lang="ko-KR" altLang="en-US" sz="2800" dirty="0">
                <a:latin typeface="+mn-ea"/>
              </a:rPr>
              <a:t> 저장 기능 추가</a:t>
            </a:r>
            <a:endParaRPr lang="en-US" altLang="ko-KR" sz="2800" dirty="0">
              <a:latin typeface="+mn-ea"/>
            </a:endParaRPr>
          </a:p>
          <a:p>
            <a:r>
              <a:rPr lang="en-US" altLang="ko-KR" sz="2800" dirty="0">
                <a:latin typeface="+mn-ea"/>
              </a:rPr>
              <a:t>4.  Lap time 7-segment</a:t>
            </a:r>
            <a:r>
              <a:rPr lang="ko-KR" altLang="en-US" sz="2800" dirty="0">
                <a:latin typeface="+mn-ea"/>
              </a:rPr>
              <a:t>에 표기</a:t>
            </a:r>
            <a:endParaRPr lang="en-US" altLang="ko-KR" sz="28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556102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7BB0B-2077-186E-89E5-12D45AE15F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EED485-0CCD-1566-F19D-956C8088F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4" y="9993"/>
            <a:ext cx="10515600" cy="1325563"/>
          </a:xfrm>
        </p:spPr>
        <p:txBody>
          <a:bodyPr/>
          <a:lstStyle/>
          <a:p>
            <a:r>
              <a:rPr lang="en-US" altLang="ko-KR" dirty="0"/>
              <a:t>3. Code </a:t>
            </a:r>
            <a:r>
              <a:rPr lang="ko-KR" altLang="en-US" dirty="0"/>
              <a:t>설명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562EDFC-5597-1944-1EA1-704DE0034C24}"/>
              </a:ext>
            </a:extLst>
          </p:cNvPr>
          <p:cNvSpPr txBox="1"/>
          <p:nvPr/>
        </p:nvSpPr>
        <p:spPr>
          <a:xfrm>
            <a:off x="838196" y="1166278"/>
            <a:ext cx="556260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/>
              <a:t>1. </a:t>
            </a:r>
            <a:r>
              <a:rPr lang="en-US" altLang="ko-KR" sz="1600" b="1" dirty="0" err="1"/>
              <a:t>key_assign.v</a:t>
            </a:r>
            <a:r>
              <a:rPr lang="en-US" altLang="ko-KR" sz="1600" b="1" dirty="0"/>
              <a:t>:</a:t>
            </a:r>
            <a:r>
              <a:rPr lang="ko-KR" altLang="en-US" sz="1600" b="1" dirty="0"/>
              <a:t> </a:t>
            </a:r>
            <a:r>
              <a:rPr lang="en-US" altLang="ko-KR" sz="1600" dirty="0"/>
              <a:t>Key20(F1) &amp; Key15(F2) </a:t>
            </a:r>
            <a:r>
              <a:rPr lang="ko-KR" altLang="en-US" sz="1600" dirty="0"/>
              <a:t>활성화</a:t>
            </a:r>
            <a:endParaRPr lang="en-US" altLang="ko-KR" sz="1600" dirty="0"/>
          </a:p>
        </p:txBody>
      </p:sp>
      <p:pic>
        <p:nvPicPr>
          <p:cNvPr id="11" name="그림 10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CB12F27-D650-EAF9-2511-6CF9EE857E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7" y="1633114"/>
            <a:ext cx="4055350" cy="2340964"/>
          </a:xfrm>
          <a:prstGeom prst="rect">
            <a:avLst/>
          </a:prstGeom>
        </p:spPr>
      </p:pic>
      <p:pic>
        <p:nvPicPr>
          <p:cNvPr id="12" name="그림 11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ADAEF61-A75F-B740-A5FF-522534CF5B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6" y="4053999"/>
            <a:ext cx="4795060" cy="2567228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C5557442-0411-E1AA-0439-CAB96EF2BC9E}"/>
              </a:ext>
            </a:extLst>
          </p:cNvPr>
          <p:cNvSpPr/>
          <p:nvPr/>
        </p:nvSpPr>
        <p:spPr>
          <a:xfrm>
            <a:off x="1738365" y="4803112"/>
            <a:ext cx="3808325" cy="181811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0" name="그림 19" descr="텍스트, 도표, 스크린샷, 평면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8FE3097-2082-7D89-06D6-2A8146ED06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73296" y="107720"/>
            <a:ext cx="1765744" cy="2455671"/>
          </a:xfrm>
          <a:prstGeom prst="rect">
            <a:avLst/>
          </a:prstGeom>
        </p:spPr>
      </p:pic>
      <p:sp>
        <p:nvSpPr>
          <p:cNvPr id="21" name="Rectangle 1">
            <a:extLst>
              <a:ext uri="{FF2B5EF4-FFF2-40B4-BE49-F238E27FC236}">
                <a16:creationId xmlns:a16="http://schemas.microsoft.com/office/drawing/2014/main" id="{32036DE4-6BB4-84D7-DE1B-EA2BF964DE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0800" y="3398836"/>
            <a:ext cx="5245240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ko-KR" altLang="en-US" dirty="0">
                <a:latin typeface="Arial" panose="020B0604020202020204" pitchFamily="34" charset="0"/>
              </a:rPr>
              <a:t>실제 보드 혹은 시뮬레이션에서 </a:t>
            </a:r>
            <a:r>
              <a:rPr lang="en-US" altLang="ko-KR" dirty="0">
                <a:latin typeface="Arial" panose="020B0604020202020204" pitchFamily="34" charset="0"/>
              </a:rPr>
              <a:t>Key 20</a:t>
            </a:r>
            <a:r>
              <a:rPr lang="ko-KR" altLang="en-US" dirty="0">
                <a:latin typeface="Arial" panose="020B0604020202020204" pitchFamily="34" charset="0"/>
              </a:rPr>
              <a:t>과 </a:t>
            </a:r>
            <a:r>
              <a:rPr lang="en-US" altLang="ko-KR" dirty="0">
                <a:latin typeface="Arial" panose="020B0604020202020204" pitchFamily="34" charset="0"/>
              </a:rPr>
              <a:t>Key 15</a:t>
            </a:r>
            <a:r>
              <a:rPr lang="ko-KR" altLang="en-US" dirty="0">
                <a:latin typeface="Arial" panose="020B0604020202020204" pitchFamily="34" charset="0"/>
              </a:rPr>
              <a:t>가 눌렸을 때</a:t>
            </a:r>
            <a:r>
              <a:rPr lang="en-US" altLang="ko-KR" dirty="0">
                <a:latin typeface="Arial" panose="020B0604020202020204" pitchFamily="34" charset="0"/>
              </a:rPr>
              <a:t>, </a:t>
            </a:r>
            <a:r>
              <a:rPr lang="ko-KR" altLang="en-US" dirty="0">
                <a:latin typeface="Arial" panose="020B0604020202020204" pitchFamily="34" charset="0"/>
              </a:rPr>
              <a:t>추가한 기능을 구현하기 위한 </a:t>
            </a:r>
            <a:r>
              <a:rPr lang="en-US" altLang="ko-KR" dirty="0">
                <a:latin typeface="Arial" panose="020B0604020202020204" pitchFamily="34" charset="0"/>
              </a:rPr>
              <a:t>output </a:t>
            </a:r>
            <a:r>
              <a:rPr lang="ko-KR" altLang="en-US" dirty="0">
                <a:latin typeface="Arial" panose="020B0604020202020204" pitchFamily="34" charset="0"/>
              </a:rPr>
              <a:t>신호들을  선언</a:t>
            </a:r>
            <a:endParaRPr lang="en-US" altLang="ko-KR" dirty="0">
              <a:latin typeface="Arial" panose="020B0604020202020204" pitchFamily="34" charset="0"/>
            </a:endParaRPr>
          </a:p>
          <a:p>
            <a:pPr marL="285750" lvl="0" indent="-28575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ko-KR" dirty="0">
              <a:latin typeface="Arial" panose="020B0604020202020204" pitchFamily="34" charset="0"/>
            </a:endParaRPr>
          </a:p>
          <a:p>
            <a:pPr marL="285750" lvl="0" indent="-28575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ko-KR" dirty="0">
                <a:latin typeface="Arial" panose="020B0604020202020204" pitchFamily="34" charset="0"/>
              </a:rPr>
              <a:t>Key 20 </a:t>
            </a:r>
            <a:r>
              <a:rPr lang="ko-KR" altLang="en-US" dirty="0">
                <a:latin typeface="Arial" panose="020B0604020202020204" pitchFamily="34" charset="0"/>
              </a:rPr>
              <a:t>은 보드를 </a:t>
            </a:r>
            <a:r>
              <a:rPr lang="en-US" altLang="ko-KR" dirty="0">
                <a:latin typeface="Arial" panose="020B0604020202020204" pitchFamily="34" charset="0"/>
              </a:rPr>
              <a:t>Timer</a:t>
            </a:r>
            <a:r>
              <a:rPr lang="ko-KR" altLang="en-US" dirty="0">
                <a:latin typeface="Arial" panose="020B0604020202020204" pitchFamily="34" charset="0"/>
              </a:rPr>
              <a:t>와 </a:t>
            </a:r>
            <a:r>
              <a:rPr lang="en-US" altLang="ko-KR" dirty="0">
                <a:latin typeface="Arial" panose="020B0604020202020204" pitchFamily="34" charset="0"/>
              </a:rPr>
              <a:t>Stopwatch </a:t>
            </a:r>
            <a:r>
              <a:rPr lang="ko-KR" altLang="en-US" dirty="0">
                <a:latin typeface="Arial" panose="020B0604020202020204" pitchFamily="34" charset="0"/>
              </a:rPr>
              <a:t>기능을 서로 바꾸는 역할</a:t>
            </a:r>
            <a:r>
              <a:rPr lang="en-US" altLang="ko-KR" dirty="0">
                <a:latin typeface="Arial" panose="020B0604020202020204" pitchFamily="34" charset="0"/>
              </a:rPr>
              <a:t>. (mode </a:t>
            </a:r>
            <a:r>
              <a:rPr lang="ko-KR" altLang="en-US" dirty="0">
                <a:latin typeface="Arial" panose="020B0604020202020204" pitchFamily="34" charset="0"/>
              </a:rPr>
              <a:t>전환</a:t>
            </a:r>
            <a:r>
              <a:rPr lang="en-US" altLang="ko-KR" dirty="0">
                <a:latin typeface="Arial" panose="020B0604020202020204" pitchFamily="34" charset="0"/>
              </a:rPr>
              <a:t>)</a:t>
            </a:r>
          </a:p>
          <a:p>
            <a:pPr marL="285750" lvl="0" indent="-28575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ko-KR" dirty="0">
                <a:latin typeface="Arial" panose="020B0604020202020204" pitchFamily="34" charset="0"/>
              </a:rPr>
              <a:t>Key</a:t>
            </a:r>
            <a:r>
              <a:rPr lang="ko-KR" altLang="en-US" dirty="0">
                <a:latin typeface="Arial" panose="020B0604020202020204" pitchFamily="34" charset="0"/>
              </a:rPr>
              <a:t> </a:t>
            </a:r>
            <a:r>
              <a:rPr lang="en-US" altLang="ko-KR" dirty="0">
                <a:latin typeface="Arial" panose="020B0604020202020204" pitchFamily="34" charset="0"/>
              </a:rPr>
              <a:t>15 </a:t>
            </a:r>
            <a:r>
              <a:rPr lang="ko-KR" altLang="en-US" dirty="0">
                <a:latin typeface="Arial" panose="020B0604020202020204" pitchFamily="34" charset="0"/>
              </a:rPr>
              <a:t>는 </a:t>
            </a:r>
            <a:r>
              <a:rPr lang="en-US" altLang="ko-KR" dirty="0">
                <a:latin typeface="Arial" panose="020B0604020202020204" pitchFamily="34" charset="0"/>
              </a:rPr>
              <a:t>Stopwatch</a:t>
            </a:r>
            <a:r>
              <a:rPr lang="ko-KR" altLang="en-US" dirty="0">
                <a:latin typeface="Arial" panose="020B0604020202020204" pitchFamily="34" charset="0"/>
              </a:rPr>
              <a:t>에서 시간을 기록하는 명령어를 수행할 수 있는 신호를 발생</a:t>
            </a:r>
            <a:r>
              <a:rPr lang="en-US" altLang="ko-KR" dirty="0">
                <a:latin typeface="Arial" panose="020B0604020202020204" pitchFamily="34" charset="0"/>
              </a:rPr>
              <a:t>.</a:t>
            </a: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dirty="0">
                <a:latin typeface="Arial" panose="020B0604020202020204" pitchFamily="34" charset="0"/>
              </a:rPr>
              <a:t>     (Lap </a:t>
            </a:r>
            <a:r>
              <a:rPr lang="ko-KR" altLang="en-US" dirty="0">
                <a:latin typeface="Arial" panose="020B0604020202020204" pitchFamily="34" charset="0"/>
              </a:rPr>
              <a:t>기능</a:t>
            </a:r>
            <a:r>
              <a:rPr lang="en-US" altLang="ko-KR" dirty="0">
                <a:latin typeface="Arial" panose="020B0604020202020204" pitchFamily="34" charset="0"/>
              </a:rPr>
              <a:t>)</a:t>
            </a:r>
          </a:p>
        </p:txBody>
      </p:sp>
      <p:pic>
        <p:nvPicPr>
          <p:cNvPr id="22" name="그림 21" descr="텍스트, 스크린샷, 사각형, 직사각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1D8FB3C-261B-24E8-187B-5FD2C209E8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491466"/>
            <a:ext cx="3098242" cy="2026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9054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0C3EE3-0BA2-F1DF-5E6C-F851336BF0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EBC81302-5123-83CC-B06D-1EDA5026CFF4}"/>
              </a:ext>
            </a:extLst>
          </p:cNvPr>
          <p:cNvSpPr txBox="1"/>
          <p:nvPr/>
        </p:nvSpPr>
        <p:spPr>
          <a:xfrm>
            <a:off x="636939" y="343288"/>
            <a:ext cx="556260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/>
              <a:t>2.</a:t>
            </a:r>
            <a:r>
              <a:rPr lang="ko-KR" altLang="en-US" sz="1600" b="1" dirty="0"/>
              <a:t> </a:t>
            </a:r>
            <a:r>
              <a:rPr lang="en-US" altLang="ko-KR" sz="1600" b="1" dirty="0" err="1"/>
              <a:t>Disp_cal.v</a:t>
            </a:r>
            <a:r>
              <a:rPr lang="en-US" altLang="ko-KR" sz="1600" b="1" dirty="0"/>
              <a:t>:</a:t>
            </a:r>
            <a:r>
              <a:rPr lang="en-US" altLang="ko-KR" sz="1600" dirty="0"/>
              <a:t> Stopwatch</a:t>
            </a:r>
            <a:r>
              <a:rPr lang="ko-KR" altLang="en-US" sz="1600" dirty="0"/>
              <a:t>와</a:t>
            </a:r>
            <a:r>
              <a:rPr lang="en-US" altLang="ko-KR" sz="1600" dirty="0"/>
              <a:t> Lap </a:t>
            </a:r>
            <a:r>
              <a:rPr lang="ko-KR" altLang="en-US" sz="1600" dirty="0"/>
              <a:t>구현 알고리즘 추가</a:t>
            </a:r>
            <a:endParaRPr lang="en-US" altLang="ko-KR" sz="1600" dirty="0"/>
          </a:p>
        </p:txBody>
      </p:sp>
      <p:pic>
        <p:nvPicPr>
          <p:cNvPr id="3" name="그림 2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A225646-C4F6-697F-905B-8EE7B643441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944"/>
          <a:stretch>
            <a:fillRect/>
          </a:stretch>
        </p:blipFill>
        <p:spPr>
          <a:xfrm>
            <a:off x="636940" y="737494"/>
            <a:ext cx="4236512" cy="2200431"/>
          </a:xfrm>
          <a:prstGeom prst="rect">
            <a:avLst/>
          </a:prstGeom>
        </p:spPr>
      </p:pic>
      <p:pic>
        <p:nvPicPr>
          <p:cNvPr id="14" name="그림 13" descr="텍스트, 스크린샷, 도표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CB576BA-A636-D800-6F8D-1912C6B80E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1585" y="272409"/>
            <a:ext cx="3186660" cy="2450693"/>
          </a:xfrm>
          <a:prstGeom prst="rect">
            <a:avLst/>
          </a:prstGeom>
        </p:spPr>
      </p:pic>
      <p:pic>
        <p:nvPicPr>
          <p:cNvPr id="16" name="그림 15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F64CE1B-AE70-7C76-2845-9D40E2EFE71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027"/>
          <a:stretch>
            <a:fillRect/>
          </a:stretch>
        </p:blipFill>
        <p:spPr>
          <a:xfrm>
            <a:off x="636938" y="2993577"/>
            <a:ext cx="4236511" cy="3777782"/>
          </a:xfrm>
          <a:prstGeom prst="rect">
            <a:avLst/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D3E07BEE-DBDD-BF49-4299-A1994CF9DE4D}"/>
              </a:ext>
            </a:extLst>
          </p:cNvPr>
          <p:cNvSpPr/>
          <p:nvPr/>
        </p:nvSpPr>
        <p:spPr>
          <a:xfrm>
            <a:off x="1264777" y="2461848"/>
            <a:ext cx="3312417" cy="13062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4FD81AB-8507-8D80-B6CE-B1C3E7DC12DC}"/>
              </a:ext>
            </a:extLst>
          </p:cNvPr>
          <p:cNvSpPr/>
          <p:nvPr/>
        </p:nvSpPr>
        <p:spPr>
          <a:xfrm>
            <a:off x="1831607" y="3166904"/>
            <a:ext cx="1645123" cy="20601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F6CD263-BB89-0FF9-CA07-809B87C4D55A}"/>
              </a:ext>
            </a:extLst>
          </p:cNvPr>
          <p:cNvSpPr/>
          <p:nvPr/>
        </p:nvSpPr>
        <p:spPr>
          <a:xfrm>
            <a:off x="1776637" y="5714799"/>
            <a:ext cx="2925992" cy="105655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Rectangle 1">
            <a:extLst>
              <a:ext uri="{FF2B5EF4-FFF2-40B4-BE49-F238E27FC236}">
                <a16:creationId xmlns:a16="http://schemas.microsoft.com/office/drawing/2014/main" id="{2E0688BC-7352-C749-D1C0-6B7FE82CA2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3675838"/>
            <a:ext cx="5550040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ko-KR" dirty="0">
                <a:latin typeface="Arial" panose="020B0604020202020204" pitchFamily="34" charset="0"/>
              </a:rPr>
              <a:t>Mode</a:t>
            </a:r>
            <a:r>
              <a:rPr lang="ko-KR" altLang="en-US" dirty="0">
                <a:latin typeface="Arial" panose="020B0604020202020204" pitchFamily="34" charset="0"/>
              </a:rPr>
              <a:t> 를 변경하는 신호를 받으면 </a:t>
            </a:r>
            <a:r>
              <a:rPr lang="en-US" altLang="ko-KR" dirty="0">
                <a:latin typeface="Arial" panose="020B0604020202020204" pitchFamily="34" charset="0"/>
              </a:rPr>
              <a:t>stopwatch</a:t>
            </a:r>
            <a:r>
              <a:rPr lang="ko-KR" altLang="en-US" dirty="0">
                <a:latin typeface="Arial" panose="020B0604020202020204" pitchFamily="34" charset="0"/>
              </a:rPr>
              <a:t>로 바꾸는 코드</a:t>
            </a:r>
            <a:endParaRPr lang="en-US" altLang="ko-KR" dirty="0">
              <a:latin typeface="Arial" panose="020B0604020202020204" pitchFamily="34" charset="0"/>
            </a:endParaRPr>
          </a:p>
          <a:p>
            <a:pPr marL="285750" lvl="0" indent="-28575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ko-KR" dirty="0">
              <a:latin typeface="Arial" panose="020B0604020202020204" pitchFamily="34" charset="0"/>
            </a:endParaRPr>
          </a:p>
          <a:p>
            <a:pPr marL="285750" lvl="0" indent="-28575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ko-KR" altLang="en-US" dirty="0">
                <a:latin typeface="Arial" panose="020B0604020202020204" pitchFamily="34" charset="0"/>
              </a:rPr>
              <a:t>앞선 </a:t>
            </a:r>
            <a:r>
              <a:rPr lang="en-US" altLang="ko-KR" dirty="0" err="1">
                <a:latin typeface="Arial" panose="020B0604020202020204" pitchFamily="34" charset="0"/>
              </a:rPr>
              <a:t>Key_assig</a:t>
            </a:r>
            <a:r>
              <a:rPr lang="ko-KR" altLang="en-US" dirty="0">
                <a:latin typeface="Arial" panose="020B0604020202020204" pitchFamily="34" charset="0"/>
              </a:rPr>
              <a:t>에서 </a:t>
            </a:r>
            <a:r>
              <a:rPr lang="en-US" altLang="ko-KR" dirty="0" err="1">
                <a:latin typeface="Arial" panose="020B0604020202020204" pitchFamily="34" charset="0"/>
              </a:rPr>
              <a:t>i_mode_sw</a:t>
            </a:r>
            <a:r>
              <a:rPr lang="en-US" altLang="ko-KR" dirty="0">
                <a:latin typeface="Arial" panose="020B0604020202020204" pitchFamily="34" charset="0"/>
              </a:rPr>
              <a:t> </a:t>
            </a:r>
            <a:r>
              <a:rPr lang="ko-KR" altLang="en-US" dirty="0">
                <a:latin typeface="Arial" panose="020B0604020202020204" pitchFamily="34" charset="0"/>
              </a:rPr>
              <a:t>신호를 수신하고</a:t>
            </a:r>
            <a:r>
              <a:rPr lang="en-US" altLang="ko-KR" dirty="0">
                <a:latin typeface="Arial" panose="020B0604020202020204" pitchFamily="34" charset="0"/>
              </a:rPr>
              <a:t> 0</a:t>
            </a:r>
            <a:r>
              <a:rPr lang="ko-KR" altLang="en-US" dirty="0">
                <a:latin typeface="Arial" panose="020B0604020202020204" pitchFamily="34" charset="0"/>
              </a:rPr>
              <a:t>이면</a:t>
            </a:r>
            <a:r>
              <a:rPr lang="en-US" altLang="ko-KR" dirty="0">
                <a:latin typeface="Arial" panose="020B0604020202020204" pitchFamily="34" charset="0"/>
              </a:rPr>
              <a:t> Timer</a:t>
            </a:r>
            <a:r>
              <a:rPr lang="ko-KR" altLang="en-US" dirty="0">
                <a:latin typeface="Arial" panose="020B0604020202020204" pitchFamily="34" charset="0"/>
              </a:rPr>
              <a:t>이고</a:t>
            </a:r>
            <a:r>
              <a:rPr lang="en-US" altLang="ko-KR" dirty="0">
                <a:latin typeface="Arial" panose="020B0604020202020204" pitchFamily="34" charset="0"/>
              </a:rPr>
              <a:t>,</a:t>
            </a:r>
            <a:r>
              <a:rPr lang="ko-KR" altLang="en-US" dirty="0">
                <a:latin typeface="Arial" panose="020B0604020202020204" pitchFamily="34" charset="0"/>
              </a:rPr>
              <a:t> </a:t>
            </a:r>
            <a:r>
              <a:rPr lang="en-US" altLang="ko-KR" dirty="0">
                <a:latin typeface="Arial" panose="020B0604020202020204" pitchFamily="34" charset="0"/>
              </a:rPr>
              <a:t>1</a:t>
            </a:r>
            <a:r>
              <a:rPr lang="ko-KR" altLang="en-US" dirty="0">
                <a:latin typeface="Arial" panose="020B0604020202020204" pitchFamily="34" charset="0"/>
              </a:rPr>
              <a:t>이면</a:t>
            </a:r>
            <a:r>
              <a:rPr lang="en-US" altLang="ko-KR" dirty="0">
                <a:latin typeface="Arial" panose="020B0604020202020204" pitchFamily="34" charset="0"/>
              </a:rPr>
              <a:t> Stopwatch</a:t>
            </a:r>
            <a:r>
              <a:rPr lang="ko-KR" altLang="en-US" dirty="0">
                <a:latin typeface="Arial" panose="020B0604020202020204" pitchFamily="34" charset="0"/>
              </a:rPr>
              <a:t>로 동작</a:t>
            </a:r>
            <a:r>
              <a:rPr lang="en-US" altLang="ko-KR" dirty="0">
                <a:latin typeface="Arial" panose="020B0604020202020204" pitchFamily="34" charset="0"/>
              </a:rPr>
              <a:t>.</a:t>
            </a:r>
          </a:p>
          <a:p>
            <a:pPr marL="285750" lvl="0" indent="-28575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ko-KR" dirty="0" err="1">
                <a:latin typeface="Arial" panose="020B0604020202020204" pitchFamily="34" charset="0"/>
              </a:rPr>
              <a:t>i_mode_sw</a:t>
            </a:r>
            <a:r>
              <a:rPr lang="en-US" altLang="ko-KR" dirty="0">
                <a:latin typeface="Arial" panose="020B0604020202020204" pitchFamily="34" charset="0"/>
              </a:rPr>
              <a:t> == 1</a:t>
            </a:r>
            <a:r>
              <a:rPr lang="ko-KR" altLang="en-US" dirty="0">
                <a:latin typeface="Arial" panose="020B0604020202020204" pitchFamily="34" charset="0"/>
              </a:rPr>
              <a:t>일 때</a:t>
            </a:r>
            <a:r>
              <a:rPr lang="en-US" altLang="ko-KR" dirty="0">
                <a:latin typeface="Arial" panose="020B0604020202020204" pitchFamily="34" charset="0"/>
              </a:rPr>
              <a:t>, i_pls_10ms</a:t>
            </a:r>
            <a:r>
              <a:rPr lang="ko-KR" altLang="en-US" dirty="0">
                <a:latin typeface="Arial" panose="020B0604020202020204" pitchFamily="34" charset="0"/>
              </a:rPr>
              <a:t>를 입력으로 하여 </a:t>
            </a:r>
            <a:r>
              <a:rPr lang="en-US" altLang="ko-KR" dirty="0">
                <a:latin typeface="Arial" panose="020B0604020202020204" pitchFamily="34" charset="0"/>
              </a:rPr>
              <a:t>10ms</a:t>
            </a:r>
            <a:r>
              <a:rPr lang="ko-KR" altLang="en-US" dirty="0">
                <a:latin typeface="Arial" panose="020B0604020202020204" pitchFamily="34" charset="0"/>
              </a:rPr>
              <a:t>씩 </a:t>
            </a:r>
            <a:r>
              <a:rPr lang="en-US" altLang="ko-KR" dirty="0">
                <a:latin typeface="Arial" panose="020B0604020202020204" pitchFamily="34" charset="0"/>
              </a:rPr>
              <a:t>count up</a:t>
            </a:r>
            <a:r>
              <a:rPr lang="ko-KR" altLang="en-US" dirty="0">
                <a:latin typeface="Arial" panose="020B0604020202020204" pitchFamily="34" charset="0"/>
              </a:rPr>
              <a:t>하는 기능 추가</a:t>
            </a:r>
            <a:r>
              <a:rPr lang="en-US" altLang="ko-KR" dirty="0"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270083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D3540C-BB88-2A6C-8F25-E155C72E9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011A917-846E-B3A7-D7F4-49C3983A0E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041" y="943637"/>
            <a:ext cx="5417799" cy="3673834"/>
          </a:xfrm>
          <a:prstGeom prst="rect">
            <a:avLst/>
          </a:prstGeom>
        </p:spPr>
      </p:pic>
      <p:pic>
        <p:nvPicPr>
          <p:cNvPr id="10" name="그림 9" descr="텍스트, 폰트, 스크린샷, 대수학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BF9CAAD-E0F1-DFE9-FE46-CE8DC97436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041" y="4923392"/>
            <a:ext cx="5881306" cy="1066949"/>
          </a:xfrm>
          <a:prstGeom prst="rect">
            <a:avLst/>
          </a:prstGeom>
        </p:spPr>
      </p:pic>
      <p:pic>
        <p:nvPicPr>
          <p:cNvPr id="14" name="그림 13" descr="텍스트, 스크린샷, 도표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DBDA226-6B52-4034-23AD-B3BD6BEF6B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15789" y="272410"/>
            <a:ext cx="2262456" cy="1739936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941458D-4C27-2664-951F-DD7DE2AFA3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2347" y="2372441"/>
            <a:ext cx="5245240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ko-KR" dirty="0">
                <a:latin typeface="Arial" panose="020B0604020202020204" pitchFamily="34" charset="0"/>
              </a:rPr>
              <a:t>Lap</a:t>
            </a:r>
            <a:r>
              <a:rPr lang="ko-KR" altLang="en-US" dirty="0">
                <a:latin typeface="Arial" panose="020B0604020202020204" pitchFamily="34" charset="0"/>
              </a:rPr>
              <a:t> 하는 신호를 받으면 현재 </a:t>
            </a:r>
            <a:r>
              <a:rPr lang="en-US" altLang="ko-KR" dirty="0">
                <a:latin typeface="Arial" panose="020B0604020202020204" pitchFamily="34" charset="0"/>
              </a:rPr>
              <a:t>display</a:t>
            </a:r>
            <a:r>
              <a:rPr lang="ko-KR" altLang="en-US" dirty="0">
                <a:latin typeface="Arial" panose="020B0604020202020204" pitchFamily="34" charset="0"/>
              </a:rPr>
              <a:t>되고 있는 값을 저장</a:t>
            </a:r>
            <a:r>
              <a:rPr lang="en-US" altLang="ko-KR" dirty="0">
                <a:latin typeface="Arial" panose="020B0604020202020204" pitchFamily="34" charset="0"/>
              </a:rPr>
              <a:t>.</a:t>
            </a:r>
          </a:p>
          <a:p>
            <a:pPr marL="285750" lvl="0" indent="-28575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ko-KR" dirty="0">
              <a:latin typeface="Arial" panose="020B0604020202020204" pitchFamily="34" charset="0"/>
            </a:endParaRPr>
          </a:p>
          <a:p>
            <a:pPr marL="285750" lvl="0" indent="-28575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ko-KR" altLang="en-US" dirty="0">
                <a:latin typeface="Arial" panose="020B0604020202020204" pitchFamily="34" charset="0"/>
              </a:rPr>
              <a:t>앞선 </a:t>
            </a:r>
            <a:r>
              <a:rPr lang="en-US" altLang="ko-KR" dirty="0" err="1">
                <a:latin typeface="Arial" panose="020B0604020202020204" pitchFamily="34" charset="0"/>
              </a:rPr>
              <a:t>Key_assig</a:t>
            </a:r>
            <a:r>
              <a:rPr lang="ko-KR" altLang="en-US" dirty="0">
                <a:latin typeface="Arial" panose="020B0604020202020204" pitchFamily="34" charset="0"/>
              </a:rPr>
              <a:t>에서 </a:t>
            </a:r>
            <a:r>
              <a:rPr lang="en-US" altLang="ko-KR" dirty="0" err="1">
                <a:latin typeface="Arial" panose="020B0604020202020204" pitchFamily="34" charset="0"/>
              </a:rPr>
              <a:t>i_lap_sw</a:t>
            </a:r>
            <a:r>
              <a:rPr lang="en-US" altLang="ko-KR" dirty="0">
                <a:latin typeface="Arial" panose="020B0604020202020204" pitchFamily="34" charset="0"/>
              </a:rPr>
              <a:t> </a:t>
            </a:r>
            <a:r>
              <a:rPr lang="ko-KR" altLang="en-US" dirty="0">
                <a:latin typeface="Arial" panose="020B0604020202020204" pitchFamily="34" charset="0"/>
              </a:rPr>
              <a:t>신호를 수신하고</a:t>
            </a:r>
            <a:r>
              <a:rPr lang="en-US" altLang="ko-KR" dirty="0">
                <a:latin typeface="Arial" panose="020B0604020202020204" pitchFamily="34" charset="0"/>
              </a:rPr>
              <a:t>  </a:t>
            </a:r>
            <a:r>
              <a:rPr lang="ko-KR" altLang="en-US" dirty="0">
                <a:latin typeface="Arial" panose="020B0604020202020204" pitchFamily="34" charset="0"/>
              </a:rPr>
              <a:t>버튼이 눌리는 순간</a:t>
            </a:r>
            <a:r>
              <a:rPr lang="en-US" altLang="ko-KR" dirty="0">
                <a:latin typeface="Arial" panose="020B0604020202020204" pitchFamily="34" charset="0"/>
              </a:rPr>
              <a:t>,</a:t>
            </a:r>
            <a:r>
              <a:rPr lang="ko-KR" altLang="en-US" dirty="0">
                <a:latin typeface="Arial" panose="020B0604020202020204" pitchFamily="34" charset="0"/>
              </a:rPr>
              <a:t> </a:t>
            </a:r>
            <a:r>
              <a:rPr lang="en-US" altLang="ko-KR" dirty="0">
                <a:latin typeface="Arial" panose="020B0604020202020204" pitchFamily="34" charset="0"/>
              </a:rPr>
              <a:t>Toggle</a:t>
            </a:r>
            <a:r>
              <a:rPr lang="ko-KR" altLang="en-US" dirty="0">
                <a:latin typeface="Arial" panose="020B0604020202020204" pitchFamily="34" charset="0"/>
              </a:rPr>
              <a:t>하여 </a:t>
            </a:r>
            <a:r>
              <a:rPr lang="en-US" altLang="ko-KR" dirty="0">
                <a:latin typeface="Arial" panose="020B0604020202020204" pitchFamily="34" charset="0"/>
              </a:rPr>
              <a:t>count up </a:t>
            </a:r>
            <a:r>
              <a:rPr lang="ko-KR" altLang="en-US" dirty="0" err="1">
                <a:latin typeface="Arial" panose="020B0604020202020204" pitchFamily="34" charset="0"/>
              </a:rPr>
              <a:t>되고있는</a:t>
            </a:r>
            <a:r>
              <a:rPr lang="ko-KR" altLang="en-US" dirty="0">
                <a:latin typeface="Arial" panose="020B0604020202020204" pitchFamily="34" charset="0"/>
              </a:rPr>
              <a:t> 값을 저장</a:t>
            </a:r>
            <a:r>
              <a:rPr lang="en-US" altLang="ko-KR" dirty="0">
                <a:latin typeface="Arial" panose="020B0604020202020204" pitchFamily="34" charset="0"/>
              </a:rPr>
              <a:t>. </a:t>
            </a:r>
          </a:p>
          <a:p>
            <a:pPr marL="285750" lvl="0" indent="-28575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ko-KR" dirty="0">
                <a:latin typeface="Arial" panose="020B0604020202020204" pitchFamily="34" charset="0"/>
              </a:rPr>
              <a:t>7-Segment</a:t>
            </a:r>
            <a:r>
              <a:rPr lang="ko-KR" altLang="en-US" dirty="0">
                <a:latin typeface="Arial" panose="020B0604020202020204" pitchFamily="34" charset="0"/>
              </a:rPr>
              <a:t>로 보내는</a:t>
            </a:r>
            <a:r>
              <a:rPr lang="en-US" altLang="ko-KR" dirty="0">
                <a:latin typeface="Arial" panose="020B0604020202020204" pitchFamily="34" charset="0"/>
              </a:rPr>
              <a:t> </a:t>
            </a:r>
            <a:r>
              <a:rPr lang="ko-KR" altLang="en-US" dirty="0">
                <a:latin typeface="Arial" panose="020B0604020202020204" pitchFamily="34" charset="0"/>
              </a:rPr>
              <a:t>값이 </a:t>
            </a:r>
            <a:r>
              <a:rPr lang="en-US" altLang="ko-KR" dirty="0">
                <a:latin typeface="Arial" panose="020B0604020202020204" pitchFamily="34" charset="0"/>
              </a:rPr>
              <a:t>Mode</a:t>
            </a:r>
            <a:r>
              <a:rPr lang="ko-KR" altLang="en-US" dirty="0">
                <a:latin typeface="Arial" panose="020B0604020202020204" pitchFamily="34" charset="0"/>
              </a:rPr>
              <a:t>에 따라</a:t>
            </a:r>
            <a:r>
              <a:rPr lang="en-US" altLang="ko-KR" dirty="0">
                <a:latin typeface="Arial" panose="020B0604020202020204" pitchFamily="34" charset="0"/>
              </a:rPr>
              <a:t> timer </a:t>
            </a:r>
            <a:r>
              <a:rPr lang="ko-KR" altLang="en-US" dirty="0">
                <a:latin typeface="Arial" panose="020B0604020202020204" pitchFamily="34" charset="0"/>
              </a:rPr>
              <a:t>혹은 </a:t>
            </a:r>
            <a:r>
              <a:rPr lang="en-US" altLang="ko-KR" dirty="0">
                <a:latin typeface="Arial" panose="020B0604020202020204" pitchFamily="34" charset="0"/>
              </a:rPr>
              <a:t>stopwatch </a:t>
            </a:r>
            <a:r>
              <a:rPr lang="ko-KR" altLang="en-US" dirty="0">
                <a:latin typeface="Arial" panose="020B0604020202020204" pitchFamily="34" charset="0"/>
              </a:rPr>
              <a:t>값을 보내고</a:t>
            </a:r>
            <a:r>
              <a:rPr lang="en-US" altLang="ko-KR" dirty="0">
                <a:latin typeface="Arial" panose="020B0604020202020204" pitchFamily="34" charset="0"/>
              </a:rPr>
              <a:t>, Stopwatch </a:t>
            </a:r>
            <a:r>
              <a:rPr lang="ko-KR" altLang="en-US" dirty="0">
                <a:latin typeface="Arial" panose="020B0604020202020204" pitchFamily="34" charset="0"/>
              </a:rPr>
              <a:t>내에서 </a:t>
            </a:r>
            <a:r>
              <a:rPr lang="en-US" altLang="ko-KR" dirty="0">
                <a:latin typeface="Arial" panose="020B0604020202020204" pitchFamily="34" charset="0"/>
              </a:rPr>
              <a:t>Lap </a:t>
            </a:r>
            <a:r>
              <a:rPr lang="ko-KR" altLang="en-US" dirty="0">
                <a:latin typeface="Arial" panose="020B0604020202020204" pitchFamily="34" charset="0"/>
              </a:rPr>
              <a:t>신호에 따라</a:t>
            </a:r>
            <a:r>
              <a:rPr lang="en-US" altLang="ko-KR" dirty="0">
                <a:latin typeface="Arial" panose="020B0604020202020204" pitchFamily="34" charset="0"/>
              </a:rPr>
              <a:t>, count up</a:t>
            </a:r>
            <a:r>
              <a:rPr lang="ko-KR" altLang="en-US" dirty="0">
                <a:latin typeface="Arial" panose="020B0604020202020204" pitchFamily="34" charset="0"/>
              </a:rPr>
              <a:t>값 혹은 </a:t>
            </a:r>
            <a:r>
              <a:rPr lang="en-US" altLang="ko-KR" dirty="0">
                <a:latin typeface="Arial" panose="020B0604020202020204" pitchFamily="34" charset="0"/>
              </a:rPr>
              <a:t>lap time </a:t>
            </a:r>
            <a:r>
              <a:rPr lang="ko-KR" altLang="en-US" dirty="0">
                <a:latin typeface="Arial" panose="020B0604020202020204" pitchFamily="34" charset="0"/>
              </a:rPr>
              <a:t>값을 출력</a:t>
            </a:r>
            <a:endParaRPr lang="en-US" altLang="ko-KR" dirty="0">
              <a:latin typeface="Arial" panose="020B0604020202020204" pitchFamily="34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366DAD5-FCE8-CD4F-49D6-AC976C31F78C}"/>
              </a:ext>
            </a:extLst>
          </p:cNvPr>
          <p:cNvSpPr/>
          <p:nvPr/>
        </p:nvSpPr>
        <p:spPr>
          <a:xfrm>
            <a:off x="1786684" y="2372441"/>
            <a:ext cx="4393051" cy="161675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F7EF4D0-6164-6929-3111-CE0EB5E37237}"/>
              </a:ext>
            </a:extLst>
          </p:cNvPr>
          <p:cNvSpPr/>
          <p:nvPr/>
        </p:nvSpPr>
        <p:spPr>
          <a:xfrm>
            <a:off x="1353414" y="5034224"/>
            <a:ext cx="5368933" cy="69754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33649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4B394D-6ED1-140F-B383-CDEEBBC85F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F55A6579-DA1F-68CD-132B-2FFA9A5D7D16}"/>
              </a:ext>
            </a:extLst>
          </p:cNvPr>
          <p:cNvSpPr txBox="1"/>
          <p:nvPr/>
        </p:nvSpPr>
        <p:spPr>
          <a:xfrm>
            <a:off x="636938" y="556592"/>
            <a:ext cx="568676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/>
              <a:t>3. </a:t>
            </a:r>
            <a:r>
              <a:rPr lang="en-US" altLang="ko-KR" sz="1600" b="1" dirty="0" err="1"/>
              <a:t>clk_pls.v</a:t>
            </a:r>
            <a:r>
              <a:rPr lang="en-US" altLang="ko-KR" sz="1600" b="1" dirty="0"/>
              <a:t>:</a:t>
            </a:r>
            <a:r>
              <a:rPr lang="en-US" altLang="ko-KR" sz="1600" dirty="0"/>
              <a:t> 10ms(0.01</a:t>
            </a:r>
            <a:r>
              <a:rPr lang="ko-KR" altLang="en-US" sz="1600" dirty="0"/>
              <a:t>초</a:t>
            </a:r>
            <a:r>
              <a:rPr lang="en-US" altLang="ko-KR" sz="1600" dirty="0"/>
              <a:t>) </a:t>
            </a:r>
            <a:r>
              <a:rPr lang="ko-KR" altLang="en-US" sz="1600" dirty="0"/>
              <a:t>단위로 </a:t>
            </a:r>
            <a:r>
              <a:rPr lang="en-US" altLang="ko-KR" sz="1600" dirty="0"/>
              <a:t>pulse </a:t>
            </a:r>
            <a:r>
              <a:rPr lang="ko-KR" altLang="en-US" sz="1600" dirty="0"/>
              <a:t>생성</a:t>
            </a:r>
            <a:endParaRPr lang="en-US" altLang="ko-KR" sz="1600" dirty="0"/>
          </a:p>
        </p:txBody>
      </p:sp>
      <p:pic>
        <p:nvPicPr>
          <p:cNvPr id="4" name="그림 3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79672A2-65D6-81C8-5AF6-19D53BC6CE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938" y="2408241"/>
            <a:ext cx="4146612" cy="4323602"/>
          </a:xfrm>
          <a:prstGeom prst="rect">
            <a:avLst/>
          </a:prstGeom>
        </p:spPr>
      </p:pic>
      <p:pic>
        <p:nvPicPr>
          <p:cNvPr id="7" name="그림 6" descr="텍스트, 스크린샷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7241905-0D69-3A98-1BAC-2C77D1B389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938" y="1093608"/>
            <a:ext cx="4867954" cy="1314633"/>
          </a:xfrm>
          <a:prstGeom prst="rect">
            <a:avLst/>
          </a:prstGeom>
        </p:spPr>
      </p:pic>
      <p:pic>
        <p:nvPicPr>
          <p:cNvPr id="9" name="그림 8" descr="텍스트, 도표, 스크린샷, 직사각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CC9386D-8ED3-E5E3-DE1E-3FE6D8CA87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3082" y="168912"/>
            <a:ext cx="2908904" cy="2257763"/>
          </a:xfrm>
          <a:prstGeom prst="rect">
            <a:avLst/>
          </a:prstGeom>
        </p:spPr>
      </p:pic>
      <p:sp>
        <p:nvSpPr>
          <p:cNvPr id="10" name="Rectangle 1">
            <a:extLst>
              <a:ext uri="{FF2B5EF4-FFF2-40B4-BE49-F238E27FC236}">
                <a16:creationId xmlns:a16="http://schemas.microsoft.com/office/drawing/2014/main" id="{C86BBC55-92A5-B3C1-8BB2-5B7205018E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3675836"/>
            <a:ext cx="5550040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ko-KR" altLang="en-US" dirty="0">
                <a:latin typeface="Arial" panose="020B0604020202020204" pitchFamily="34" charset="0"/>
              </a:rPr>
              <a:t>기존에 있는 </a:t>
            </a:r>
            <a:r>
              <a:rPr lang="en-US" altLang="ko-KR" dirty="0">
                <a:latin typeface="Arial" panose="020B0604020202020204" pitchFamily="34" charset="0"/>
              </a:rPr>
              <a:t>1ms</a:t>
            </a:r>
            <a:r>
              <a:rPr lang="ko-KR" altLang="en-US" dirty="0">
                <a:latin typeface="Arial" panose="020B0604020202020204" pitchFamily="34" charset="0"/>
              </a:rPr>
              <a:t> 를 생성하는 </a:t>
            </a:r>
            <a:r>
              <a:rPr lang="en-US" altLang="ko-KR" dirty="0">
                <a:latin typeface="Arial" panose="020B0604020202020204" pitchFamily="34" charset="0"/>
              </a:rPr>
              <a:t>pulse</a:t>
            </a:r>
            <a:r>
              <a:rPr lang="ko-KR" altLang="en-US" dirty="0">
                <a:latin typeface="Arial" panose="020B0604020202020204" pitchFamily="34" charset="0"/>
              </a:rPr>
              <a:t>를 이용하여</a:t>
            </a:r>
            <a:r>
              <a:rPr lang="en-US" altLang="ko-KR" dirty="0">
                <a:latin typeface="Arial" panose="020B0604020202020204" pitchFamily="34" charset="0"/>
              </a:rPr>
              <a:t>,</a:t>
            </a:r>
            <a:r>
              <a:rPr lang="ko-KR" altLang="en-US" dirty="0">
                <a:latin typeface="Arial" panose="020B0604020202020204" pitchFamily="34" charset="0"/>
              </a:rPr>
              <a:t> </a:t>
            </a:r>
            <a:r>
              <a:rPr lang="en-US" altLang="ko-KR" dirty="0">
                <a:latin typeface="Arial" panose="020B0604020202020204" pitchFamily="34" charset="0"/>
              </a:rPr>
              <a:t>10ms</a:t>
            </a:r>
            <a:r>
              <a:rPr lang="ko-KR" altLang="en-US" dirty="0">
                <a:latin typeface="Arial" panose="020B0604020202020204" pitchFamily="34" charset="0"/>
              </a:rPr>
              <a:t>를 생성하는 </a:t>
            </a:r>
            <a:r>
              <a:rPr lang="en-US" altLang="ko-KR" dirty="0">
                <a:latin typeface="Arial" panose="020B0604020202020204" pitchFamily="34" charset="0"/>
              </a:rPr>
              <a:t>pulse</a:t>
            </a:r>
            <a:r>
              <a:rPr lang="ko-KR" altLang="en-US" dirty="0">
                <a:latin typeface="Arial" panose="020B0604020202020204" pitchFamily="34" charset="0"/>
              </a:rPr>
              <a:t>를 제작</a:t>
            </a:r>
            <a:r>
              <a:rPr lang="en-US" altLang="ko-KR" dirty="0">
                <a:latin typeface="Arial" panose="020B0604020202020204" pitchFamily="34" charset="0"/>
              </a:rPr>
              <a:t>.</a:t>
            </a:r>
          </a:p>
          <a:p>
            <a:pPr marL="285750" lvl="0" indent="-28575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ko-KR" dirty="0">
              <a:latin typeface="Arial" panose="020B0604020202020204" pitchFamily="34" charset="0"/>
            </a:endParaRPr>
          </a:p>
          <a:p>
            <a:pPr marL="285750" lvl="0" indent="-28575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ko-KR" b="1" dirty="0">
                <a:latin typeface="Arial" panose="020B0604020202020204" pitchFamily="34" charset="0"/>
              </a:rPr>
              <a:t>pls_1k</a:t>
            </a:r>
            <a:r>
              <a:rPr lang="ko-KR" altLang="en-US" dirty="0">
                <a:latin typeface="Arial" panose="020B0604020202020204" pitchFamily="34" charset="0"/>
              </a:rPr>
              <a:t>와 </a:t>
            </a:r>
            <a:r>
              <a:rPr lang="en-US" altLang="ko-KR" dirty="0">
                <a:latin typeface="Arial" panose="020B0604020202020204" pitchFamily="34" charset="0"/>
              </a:rPr>
              <a:t>4bit</a:t>
            </a:r>
            <a:r>
              <a:rPr lang="ko-KR" altLang="en-US" dirty="0">
                <a:latin typeface="Arial" panose="020B0604020202020204" pitchFamily="34" charset="0"/>
              </a:rPr>
              <a:t>의 </a:t>
            </a:r>
            <a:r>
              <a:rPr lang="en-US" altLang="ko-KR" dirty="0">
                <a:latin typeface="Arial" panose="020B0604020202020204" pitchFamily="34" charset="0"/>
              </a:rPr>
              <a:t>register</a:t>
            </a:r>
            <a:r>
              <a:rPr lang="ko-KR" altLang="en-US" dirty="0">
                <a:latin typeface="Arial" panose="020B0604020202020204" pitchFamily="34" charset="0"/>
              </a:rPr>
              <a:t>인 </a:t>
            </a:r>
            <a:r>
              <a:rPr lang="en-US" altLang="ko-KR" b="1" dirty="0">
                <a:latin typeface="Arial" panose="020B0604020202020204" pitchFamily="34" charset="0"/>
              </a:rPr>
              <a:t>cnt_10ms</a:t>
            </a:r>
            <a:r>
              <a:rPr lang="ko-KR" altLang="en-US" dirty="0">
                <a:latin typeface="Arial" panose="020B0604020202020204" pitchFamily="34" charset="0"/>
              </a:rPr>
              <a:t>를 이용하여</a:t>
            </a:r>
            <a:r>
              <a:rPr lang="en-US" altLang="ko-KR" dirty="0">
                <a:latin typeface="Arial" panose="020B0604020202020204" pitchFamily="34" charset="0"/>
              </a:rPr>
              <a:t>, pls_10ms</a:t>
            </a:r>
            <a:r>
              <a:rPr lang="ko-KR" altLang="en-US" dirty="0">
                <a:latin typeface="Arial" panose="020B0604020202020204" pitchFamily="34" charset="0"/>
              </a:rPr>
              <a:t>를 생성</a:t>
            </a:r>
            <a:r>
              <a:rPr lang="en-US" altLang="ko-KR" dirty="0">
                <a:latin typeface="Arial" panose="020B0604020202020204" pitchFamily="34" charset="0"/>
              </a:rPr>
              <a:t>.</a:t>
            </a:r>
          </a:p>
          <a:p>
            <a:pPr marL="285750" lvl="0" indent="-28575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ko-KR" dirty="0">
                <a:latin typeface="Arial" panose="020B0604020202020204" pitchFamily="34" charset="0"/>
              </a:rPr>
              <a:t>pls_10ms</a:t>
            </a:r>
            <a:r>
              <a:rPr lang="ko-KR" altLang="en-US" dirty="0">
                <a:latin typeface="Arial" panose="020B0604020202020204" pitchFamily="34" charset="0"/>
              </a:rPr>
              <a:t>을</a:t>
            </a:r>
            <a:r>
              <a:rPr lang="en-US" altLang="ko-KR" dirty="0">
                <a:latin typeface="Arial" panose="020B0604020202020204" pitchFamily="34" charset="0"/>
              </a:rPr>
              <a:t> </a:t>
            </a:r>
            <a:r>
              <a:rPr lang="en-US" altLang="ko-KR" dirty="0" err="1">
                <a:latin typeface="Arial" panose="020B0604020202020204" pitchFamily="34" charset="0"/>
              </a:rPr>
              <a:t>Disp_cal</a:t>
            </a:r>
            <a:r>
              <a:rPr lang="ko-KR" altLang="en-US" dirty="0">
                <a:latin typeface="Arial" panose="020B0604020202020204" pitchFamily="34" charset="0"/>
              </a:rPr>
              <a:t>에서</a:t>
            </a:r>
            <a:r>
              <a:rPr lang="en-US" altLang="ko-KR" dirty="0">
                <a:latin typeface="Arial" panose="020B0604020202020204" pitchFamily="34" charset="0"/>
              </a:rPr>
              <a:t> count</a:t>
            </a:r>
            <a:r>
              <a:rPr lang="ko-KR" altLang="en-US" dirty="0">
                <a:latin typeface="Arial" panose="020B0604020202020204" pitchFamily="34" charset="0"/>
              </a:rPr>
              <a:t> </a:t>
            </a:r>
            <a:r>
              <a:rPr lang="en-US" altLang="ko-KR" dirty="0">
                <a:latin typeface="Arial" panose="020B0604020202020204" pitchFamily="34" charset="0"/>
              </a:rPr>
              <a:t>up</a:t>
            </a:r>
            <a:r>
              <a:rPr lang="ko-KR" altLang="en-US" dirty="0">
                <a:latin typeface="Arial" panose="020B0604020202020204" pitchFamily="34" charset="0"/>
              </a:rPr>
              <a:t> 코드와 동기 시키면</a:t>
            </a:r>
            <a:r>
              <a:rPr lang="en-US" altLang="ko-KR" dirty="0">
                <a:latin typeface="Arial" panose="020B0604020202020204" pitchFamily="34" charset="0"/>
              </a:rPr>
              <a:t>, 0.01</a:t>
            </a:r>
            <a:r>
              <a:rPr lang="ko-KR" altLang="en-US" dirty="0">
                <a:latin typeface="Arial" panose="020B0604020202020204" pitchFamily="34" charset="0"/>
              </a:rPr>
              <a:t>초씩 증가하는 </a:t>
            </a:r>
            <a:r>
              <a:rPr lang="en-US" altLang="ko-KR" dirty="0">
                <a:latin typeface="Arial" panose="020B0604020202020204" pitchFamily="34" charset="0"/>
              </a:rPr>
              <a:t>stopwatch</a:t>
            </a:r>
            <a:r>
              <a:rPr lang="ko-KR" altLang="en-US" dirty="0">
                <a:latin typeface="Arial" panose="020B0604020202020204" pitchFamily="34" charset="0"/>
              </a:rPr>
              <a:t>를 구현</a:t>
            </a:r>
            <a:r>
              <a:rPr lang="en-US" altLang="ko-KR" dirty="0"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ECEBB58-4D1F-5F1A-CD07-11E5E2F5C158}"/>
              </a:ext>
            </a:extLst>
          </p:cNvPr>
          <p:cNvSpPr/>
          <p:nvPr/>
        </p:nvSpPr>
        <p:spPr>
          <a:xfrm>
            <a:off x="1341476" y="3603353"/>
            <a:ext cx="3442074" cy="225483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81829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688C41-D1FF-7BC3-45E5-7094E7F31C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56044B7-2610-32D1-4627-F855F02349C4}"/>
              </a:ext>
            </a:extLst>
          </p:cNvPr>
          <p:cNvSpPr txBox="1"/>
          <p:nvPr/>
        </p:nvSpPr>
        <p:spPr>
          <a:xfrm>
            <a:off x="802038" y="556592"/>
            <a:ext cx="568676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/>
              <a:t>4. Lap</a:t>
            </a:r>
            <a:r>
              <a:rPr lang="ko-KR" altLang="en-US" sz="1600" b="1"/>
              <a:t> </a:t>
            </a:r>
            <a:r>
              <a:rPr lang="en-US" altLang="ko-KR" sz="1600" b="1"/>
              <a:t>time</a:t>
            </a:r>
            <a:r>
              <a:rPr lang="ko-KR" altLang="en-US" sz="1600" b="1"/>
              <a:t> 저장 </a:t>
            </a:r>
            <a:endParaRPr lang="en-US" altLang="ko-KR" sz="1600" b="1" dirty="0"/>
          </a:p>
        </p:txBody>
      </p:sp>
      <p:pic>
        <p:nvPicPr>
          <p:cNvPr id="4" name="그림 3" descr="텍스트, 스크린샷, 폰트, 문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217AE26-E5E7-2C86-8770-E715743AB9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792" y="957078"/>
            <a:ext cx="4645899" cy="5724923"/>
          </a:xfrm>
          <a:prstGeom prst="rect">
            <a:avLst/>
          </a:prstGeom>
        </p:spPr>
      </p:pic>
      <p:pic>
        <p:nvPicPr>
          <p:cNvPr id="5" name="그림 4" descr="텍스트, 스크린샷, 도표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694BA8C-733D-56E2-2E7E-B5BA3D487D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3532" y="393496"/>
            <a:ext cx="2409268" cy="2038554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2F141BF4-7C31-DE9B-9299-C54A0C4EBA61}"/>
              </a:ext>
            </a:extLst>
          </p:cNvPr>
          <p:cNvSpPr/>
          <p:nvPr/>
        </p:nvSpPr>
        <p:spPr>
          <a:xfrm>
            <a:off x="1517649" y="3708400"/>
            <a:ext cx="3815041" cy="16891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18B38749-CB17-64B5-42A0-A11B6B1680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3675838"/>
            <a:ext cx="5550040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ko-KR">
                <a:latin typeface="Arial" panose="020B0604020202020204" pitchFamily="34" charset="0"/>
              </a:rPr>
              <a:t>LAP </a:t>
            </a:r>
            <a:r>
              <a:rPr lang="ko-KR" altLang="en-US">
                <a:latin typeface="Arial" panose="020B0604020202020204" pitchFamily="34" charset="0"/>
              </a:rPr>
              <a:t>버튼</a:t>
            </a:r>
            <a:r>
              <a:rPr lang="en-US" altLang="ko-KR">
                <a:latin typeface="Arial" panose="020B0604020202020204" pitchFamily="34" charset="0"/>
              </a:rPr>
              <a:t>(Key 15)</a:t>
            </a:r>
            <a:r>
              <a:rPr lang="ko-KR" altLang="en-US">
                <a:latin typeface="Arial" panose="020B0604020202020204" pitchFamily="34" charset="0"/>
              </a:rPr>
              <a:t>의 </a:t>
            </a:r>
            <a:r>
              <a:rPr lang="en-US" altLang="ko-KR">
                <a:latin typeface="Arial" panose="020B0604020202020204" pitchFamily="34" charset="0"/>
              </a:rPr>
              <a:t>Rising Edge </a:t>
            </a:r>
            <a:r>
              <a:rPr lang="ko-KR" altLang="en-US">
                <a:latin typeface="Arial" panose="020B0604020202020204" pitchFamily="34" charset="0"/>
              </a:rPr>
              <a:t>검출하여 현재</a:t>
            </a:r>
            <a:br>
              <a:rPr lang="en-US" altLang="ko-KR">
                <a:latin typeface="Arial" panose="020B0604020202020204" pitchFamily="34" charset="0"/>
              </a:rPr>
            </a:br>
            <a:r>
              <a:rPr lang="ko-KR" altLang="en-US">
                <a:latin typeface="Arial" panose="020B0604020202020204" pitchFamily="34" charset="0"/>
              </a:rPr>
              <a:t>스탑워치 시간을 </a:t>
            </a:r>
            <a:r>
              <a:rPr lang="en-US" altLang="ko-KR" b="1">
                <a:latin typeface="Arial" panose="020B0604020202020204" pitchFamily="34" charset="0"/>
              </a:rPr>
              <a:t>r_lap_time </a:t>
            </a:r>
            <a:r>
              <a:rPr lang="ko-KR" altLang="en-US">
                <a:latin typeface="Arial" panose="020B0604020202020204" pitchFamily="34" charset="0"/>
              </a:rPr>
              <a:t>배열에 저장</a:t>
            </a:r>
            <a:endParaRPr lang="en-US" altLang="ko-KR">
              <a:latin typeface="Arial" panose="020B0604020202020204" pitchFamily="34" charset="0"/>
            </a:endParaRPr>
          </a:p>
          <a:p>
            <a:pPr marL="285750" lvl="0" indent="-28575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ko-KR">
              <a:latin typeface="Arial" panose="020B0604020202020204" pitchFamily="34" charset="0"/>
            </a:endParaRPr>
          </a:p>
          <a:p>
            <a:pPr marL="285750" lvl="0" indent="-28575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ko-KR" b="1">
                <a:latin typeface="Arial" panose="020B0604020202020204" pitchFamily="34" charset="0"/>
              </a:rPr>
              <a:t>r_lap_count</a:t>
            </a:r>
            <a:r>
              <a:rPr lang="ko-KR" altLang="en-US">
                <a:latin typeface="Arial" panose="020B0604020202020204" pitchFamily="34" charset="0"/>
              </a:rPr>
              <a:t>가 </a:t>
            </a:r>
            <a:r>
              <a:rPr lang="en-US" altLang="ko-KR">
                <a:latin typeface="Arial" panose="020B0604020202020204" pitchFamily="34" charset="0"/>
              </a:rPr>
              <a:t>1</a:t>
            </a:r>
            <a:r>
              <a:rPr lang="ko-KR" altLang="en-US">
                <a:latin typeface="Arial" panose="020B0604020202020204" pitchFamily="34" charset="0"/>
              </a:rPr>
              <a:t>씩 증가하여 최대 </a:t>
            </a:r>
            <a:r>
              <a:rPr lang="en-US" altLang="ko-KR">
                <a:latin typeface="Arial" panose="020B0604020202020204" pitchFamily="34" charset="0"/>
              </a:rPr>
              <a:t>8</a:t>
            </a:r>
            <a:r>
              <a:rPr lang="ko-KR" altLang="en-US">
                <a:latin typeface="Arial" panose="020B0604020202020204" pitchFamily="34" charset="0"/>
              </a:rPr>
              <a:t>개 까지 저장</a:t>
            </a:r>
            <a:endParaRPr lang="en-US" altLang="ko-KR">
              <a:latin typeface="Arial" panose="020B0604020202020204" pitchFamily="34" charset="0"/>
            </a:endParaRPr>
          </a:p>
          <a:p>
            <a:pPr marL="285750" lvl="0" indent="-28575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ko-KR">
              <a:latin typeface="Arial" panose="020B0604020202020204" pitchFamily="34" charset="0"/>
            </a:endParaRPr>
          </a:p>
          <a:p>
            <a:pPr marL="285750" lvl="0" indent="-28575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ko-KR" altLang="en-US">
                <a:latin typeface="Arial" panose="020B0604020202020204" pitchFamily="34" charset="0"/>
              </a:rPr>
              <a:t>스탑워치 정지</a:t>
            </a:r>
            <a:r>
              <a:rPr lang="en-US" altLang="ko-KR">
                <a:latin typeface="Arial" panose="020B0604020202020204" pitchFamily="34" charset="0"/>
              </a:rPr>
              <a:t>(r_start_en = 0)</a:t>
            </a:r>
            <a:r>
              <a:rPr lang="ko-KR" altLang="en-US">
                <a:latin typeface="Arial" panose="020B0604020202020204" pitchFamily="34" charset="0"/>
              </a:rPr>
              <a:t>시 </a:t>
            </a:r>
            <a:r>
              <a:rPr lang="en-US" altLang="ko-KR" b="1">
                <a:latin typeface="Arial" panose="020B0604020202020204" pitchFamily="34" charset="0"/>
              </a:rPr>
              <a:t>r_lap_count</a:t>
            </a:r>
            <a:r>
              <a:rPr lang="ko-KR" altLang="en-US">
                <a:latin typeface="Arial" panose="020B0604020202020204" pitchFamily="34" charset="0"/>
              </a:rPr>
              <a:t>가 </a:t>
            </a:r>
            <a:r>
              <a:rPr lang="en-US" altLang="ko-KR">
                <a:latin typeface="Arial" panose="020B0604020202020204" pitchFamily="34" charset="0"/>
              </a:rPr>
              <a:t>0</a:t>
            </a:r>
            <a:r>
              <a:rPr lang="ko-KR" altLang="en-US">
                <a:latin typeface="Arial" panose="020B0604020202020204" pitchFamily="34" charset="0"/>
              </a:rPr>
              <a:t>으로 초기화</a:t>
            </a:r>
            <a:endParaRPr lang="en-US" altLang="ko-KR" dirty="0">
              <a:latin typeface="Arial" panose="020B0604020202020204" pitchFamily="34" charset="0"/>
            </a:endParaRPr>
          </a:p>
        </p:txBody>
      </p:sp>
      <p:pic>
        <p:nvPicPr>
          <p:cNvPr id="11" name="그림 10" descr="텍스트, 스크린샷, 사각형, 직사각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63745ED-08F1-ED14-017B-B01A35100F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4012" y="556592"/>
            <a:ext cx="2454673" cy="1875458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6BC63E26-7BCA-7B38-F461-C656CC1CB73E}"/>
              </a:ext>
            </a:extLst>
          </p:cNvPr>
          <p:cNvSpPr/>
          <p:nvPr/>
        </p:nvSpPr>
        <p:spPr>
          <a:xfrm>
            <a:off x="10553699" y="1150837"/>
            <a:ext cx="501651" cy="4366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1AEA40AB-BF6F-AA9F-29F2-62C63223C507}"/>
              </a:ext>
            </a:extLst>
          </p:cNvPr>
          <p:cNvCxnSpPr>
            <a:cxnSpLocks/>
          </p:cNvCxnSpPr>
          <p:nvPr/>
        </p:nvCxnSpPr>
        <p:spPr>
          <a:xfrm flipH="1">
            <a:off x="7786966" y="1587501"/>
            <a:ext cx="2673350" cy="20807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48070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FB3187-DF07-DD60-E3C4-2450672044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CB1A7D9-60E9-B0FA-0E7F-A99A18D7DB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274" y="1016000"/>
            <a:ext cx="4174781" cy="5261433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84632965-8A32-F4F4-0672-E08C6C2DA215}"/>
              </a:ext>
            </a:extLst>
          </p:cNvPr>
          <p:cNvSpPr/>
          <p:nvPr/>
        </p:nvSpPr>
        <p:spPr>
          <a:xfrm>
            <a:off x="1157911" y="2635250"/>
            <a:ext cx="3452190" cy="276225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A3A1089B-A73A-A94A-8AE7-1FCBAC73D9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4201688"/>
            <a:ext cx="5550040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ko-KR" altLang="en-US">
                <a:latin typeface="Arial" panose="020B0604020202020204" pitchFamily="34" charset="0"/>
              </a:rPr>
              <a:t>저장된 </a:t>
            </a:r>
            <a:r>
              <a:rPr lang="en-US" altLang="ko-KR">
                <a:latin typeface="Arial" panose="020B0604020202020204" pitchFamily="34" charset="0"/>
              </a:rPr>
              <a:t>lap </a:t>
            </a:r>
            <a:r>
              <a:rPr lang="ko-KR" altLang="en-US">
                <a:latin typeface="Arial" panose="020B0604020202020204" pitchFamily="34" charset="0"/>
              </a:rPr>
              <a:t>개수</a:t>
            </a:r>
            <a:r>
              <a:rPr lang="en-US" altLang="ko-KR">
                <a:latin typeface="Arial" panose="020B0604020202020204" pitchFamily="34" charset="0"/>
              </a:rPr>
              <a:t>(r_lap_count)</a:t>
            </a:r>
            <a:r>
              <a:rPr lang="ko-KR" altLang="en-US">
                <a:latin typeface="Arial" panose="020B0604020202020204" pitchFamily="34" charset="0"/>
              </a:rPr>
              <a:t>에 따라 </a:t>
            </a:r>
            <a:r>
              <a:rPr lang="en-US" altLang="ko-KR">
                <a:latin typeface="Arial" panose="020B0604020202020204" pitchFamily="34" charset="0"/>
              </a:rPr>
              <a:t>led</a:t>
            </a:r>
            <a:r>
              <a:rPr lang="ko-KR" altLang="en-US">
                <a:latin typeface="Arial" panose="020B0604020202020204" pitchFamily="34" charset="0"/>
              </a:rPr>
              <a:t>가 순차적으로 점등</a:t>
            </a:r>
            <a:endParaRPr lang="en-US" altLang="ko-KR">
              <a:latin typeface="Arial" panose="020B0604020202020204" pitchFamily="34" charset="0"/>
            </a:endParaRPr>
          </a:p>
          <a:p>
            <a:pPr marL="285750" lvl="0" indent="-28575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ko-KR">
              <a:latin typeface="Arial" panose="020B0604020202020204" pitchFamily="34" charset="0"/>
            </a:endParaRPr>
          </a:p>
          <a:p>
            <a:pPr marL="285750" lvl="0" indent="-28575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ko-KR" altLang="en-US">
                <a:latin typeface="Arial" panose="020B0604020202020204" pitchFamily="34" charset="0"/>
              </a:rPr>
              <a:t>현재 몇 개의 </a:t>
            </a:r>
            <a:r>
              <a:rPr lang="en-US" altLang="ko-KR">
                <a:latin typeface="Arial" panose="020B0604020202020204" pitchFamily="34" charset="0"/>
              </a:rPr>
              <a:t>lap time</a:t>
            </a:r>
            <a:r>
              <a:rPr lang="ko-KR" altLang="en-US">
                <a:latin typeface="Arial" panose="020B0604020202020204" pitchFamily="34" charset="0"/>
              </a:rPr>
              <a:t>이 저장되었는지 시각적으로 확인 가능</a:t>
            </a:r>
            <a:endParaRPr lang="en-US" altLang="ko-KR">
              <a:latin typeface="Arial" panose="020B0604020202020204" pitchFamily="34" charset="0"/>
            </a:endParaRPr>
          </a:p>
          <a:p>
            <a:pPr marL="285750" lvl="0" indent="-28575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ko-KR"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78DF6A-C342-F776-7DCB-5CD244AAC43E}"/>
              </a:ext>
            </a:extLst>
          </p:cNvPr>
          <p:cNvSpPr txBox="1"/>
          <p:nvPr/>
        </p:nvSpPr>
        <p:spPr>
          <a:xfrm>
            <a:off x="840138" y="531192"/>
            <a:ext cx="568676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/>
              <a:t>5. Lap time led </a:t>
            </a:r>
            <a:r>
              <a:rPr lang="ko-KR" altLang="en-US" sz="1600" b="1"/>
              <a:t>표시</a:t>
            </a:r>
            <a:endParaRPr lang="en-US" altLang="ko-KR" sz="1600" b="1" dirty="0"/>
          </a:p>
        </p:txBody>
      </p:sp>
      <p:pic>
        <p:nvPicPr>
          <p:cNvPr id="9" name="그림 8" descr="회로, 전자제품, 텍스트, 전자 공학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3E16DC8-FD03-44BD-A5DD-DA4F9238C5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0480" y="774382"/>
            <a:ext cx="4565650" cy="2754483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918E22BC-CFE2-043B-069D-E1EA1FC1C9F4}"/>
              </a:ext>
            </a:extLst>
          </p:cNvPr>
          <p:cNvSpPr/>
          <p:nvPr/>
        </p:nvSpPr>
        <p:spPr>
          <a:xfrm>
            <a:off x="8941905" y="2798900"/>
            <a:ext cx="1440345" cy="6301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48970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BEAF22-C684-393D-46DC-36F11942E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D1CE07F-2517-B168-587B-42D63C809F74}"/>
              </a:ext>
            </a:extLst>
          </p:cNvPr>
          <p:cNvSpPr txBox="1"/>
          <p:nvPr/>
        </p:nvSpPr>
        <p:spPr>
          <a:xfrm>
            <a:off x="694088" y="239092"/>
            <a:ext cx="568676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/>
              <a:t>6. </a:t>
            </a:r>
            <a:r>
              <a:rPr lang="ko-KR" altLang="en-US" sz="1600" b="1"/>
              <a:t>저장된 </a:t>
            </a:r>
            <a:r>
              <a:rPr lang="en-US" altLang="ko-KR" sz="1600" b="1"/>
              <a:t>Lap time </a:t>
            </a:r>
            <a:r>
              <a:rPr lang="ko-KR" altLang="en-US" sz="1600" b="1"/>
              <a:t>조회</a:t>
            </a:r>
            <a:endParaRPr lang="en-US" altLang="ko-KR" sz="1600" b="1" dirty="0"/>
          </a:p>
        </p:txBody>
      </p:sp>
      <p:pic>
        <p:nvPicPr>
          <p:cNvPr id="9" name="그림 8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7441C7E-0D80-CF9E-E9F6-6DDFB156B4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088" y="795443"/>
            <a:ext cx="4074762" cy="2246208"/>
          </a:xfrm>
          <a:prstGeom prst="rect">
            <a:avLst/>
          </a:prstGeom>
        </p:spPr>
      </p:pic>
      <p:pic>
        <p:nvPicPr>
          <p:cNvPr id="11" name="그림 10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E80829E-BD5F-D00F-14DB-5CD1C8A343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088" y="3259449"/>
            <a:ext cx="4531962" cy="3529892"/>
          </a:xfrm>
          <a:prstGeom prst="rect">
            <a:avLst/>
          </a:prstGeom>
        </p:spPr>
      </p:pic>
      <p:pic>
        <p:nvPicPr>
          <p:cNvPr id="12" name="그림 11" descr="회로, 전자제품, 텍스트, 전자 공학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A751170-C4F6-C3A6-D1F7-841B5DCACDF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1002" b="65518"/>
          <a:stretch>
            <a:fillRect/>
          </a:stretch>
        </p:blipFill>
        <p:spPr>
          <a:xfrm>
            <a:off x="6380857" y="4637142"/>
            <a:ext cx="5686769" cy="1301750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F5BC06AE-A8E4-5648-85F8-EE8473AB917C}"/>
              </a:ext>
            </a:extLst>
          </p:cNvPr>
          <p:cNvSpPr/>
          <p:nvPr/>
        </p:nvSpPr>
        <p:spPr>
          <a:xfrm>
            <a:off x="694088" y="1466850"/>
            <a:ext cx="4309711" cy="16837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E0ACBAEF-7595-EC7F-00CE-8178CB78CD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3357026"/>
            <a:ext cx="4569717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ko-KR">
              <a:latin typeface="Arial" panose="020B0604020202020204" pitchFamily="34" charset="0"/>
            </a:endParaRPr>
          </a:p>
          <a:p>
            <a:pPr marL="285750" lvl="0" indent="-28575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ko-KR" altLang="en-US">
                <a:latin typeface="Arial" panose="020B0604020202020204" pitchFamily="34" charset="0"/>
              </a:rPr>
              <a:t>조회모드에서 </a:t>
            </a:r>
            <a:r>
              <a:rPr lang="en-US" altLang="ko-KR">
                <a:latin typeface="Arial" panose="020B0604020202020204" pitchFamily="34" charset="0"/>
              </a:rPr>
              <a:t>7-segment</a:t>
            </a:r>
            <a:r>
              <a:rPr lang="ko-KR" altLang="en-US">
                <a:latin typeface="Arial" panose="020B0604020202020204" pitchFamily="34" charset="0"/>
              </a:rPr>
              <a:t>의 표시는</a:t>
            </a:r>
            <a:endParaRPr lang="en-US" altLang="ko-KR">
              <a:latin typeface="Arial" panose="020B0604020202020204" pitchFamily="34" charset="0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>
                <a:latin typeface="Arial" panose="020B0604020202020204" pitchFamily="34" charset="0"/>
              </a:rPr>
              <a:t>     [0] [lap index] [</a:t>
            </a:r>
            <a:r>
              <a:rPr lang="ko-KR" altLang="en-US">
                <a:latin typeface="Arial" panose="020B0604020202020204" pitchFamily="34" charset="0"/>
              </a:rPr>
              <a:t>분</a:t>
            </a:r>
            <a:r>
              <a:rPr lang="en-US" altLang="ko-KR">
                <a:latin typeface="Arial" panose="020B0604020202020204" pitchFamily="34" charset="0"/>
              </a:rPr>
              <a:t>] [</a:t>
            </a:r>
            <a:r>
              <a:rPr lang="ko-KR" altLang="en-US">
                <a:latin typeface="Arial" panose="020B0604020202020204" pitchFamily="34" charset="0"/>
              </a:rPr>
              <a:t>초</a:t>
            </a:r>
            <a:r>
              <a:rPr lang="en-US" altLang="ko-KR">
                <a:latin typeface="Arial" panose="020B0604020202020204" pitchFamily="34" charset="0"/>
              </a:rPr>
              <a:t>] [ms]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70A31BB-F281-6EE0-70EC-D3160FB0BD81}"/>
              </a:ext>
            </a:extLst>
          </p:cNvPr>
          <p:cNvSpPr/>
          <p:nvPr/>
        </p:nvSpPr>
        <p:spPr>
          <a:xfrm>
            <a:off x="7632700" y="4729221"/>
            <a:ext cx="504825" cy="590348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Rectangle 1">
            <a:extLst>
              <a:ext uri="{FF2B5EF4-FFF2-40B4-BE49-F238E27FC236}">
                <a16:creationId xmlns:a16="http://schemas.microsoft.com/office/drawing/2014/main" id="{E96AECB9-779A-9ECE-7120-7EB47EB3B7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2308700"/>
            <a:ext cx="555004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ko-KR">
                <a:latin typeface="Arial" panose="020B0604020202020204" pitchFamily="34" charset="0"/>
              </a:rPr>
              <a:t>Key 10 </a:t>
            </a:r>
            <a:r>
              <a:rPr lang="ko-KR" altLang="en-US">
                <a:latin typeface="Arial" panose="020B0604020202020204" pitchFamily="34" charset="0"/>
              </a:rPr>
              <a:t>버튼을 누르면 </a:t>
            </a:r>
            <a:r>
              <a:rPr lang="en-US" altLang="ko-KR">
                <a:latin typeface="Arial" panose="020B0604020202020204" pitchFamily="34" charset="0"/>
              </a:rPr>
              <a:t>LAP time </a:t>
            </a:r>
            <a:r>
              <a:rPr lang="ko-KR" altLang="en-US">
                <a:latin typeface="Arial" panose="020B0604020202020204" pitchFamily="34" charset="0"/>
              </a:rPr>
              <a:t>조회 모드가 되고 누를 때 마다 인덱스가 증가하여 원하는 </a:t>
            </a:r>
            <a:r>
              <a:rPr lang="en-US" altLang="ko-KR">
                <a:latin typeface="Arial" panose="020B0604020202020204" pitchFamily="34" charset="0"/>
              </a:rPr>
              <a:t>LAP time</a:t>
            </a:r>
            <a:r>
              <a:rPr lang="ko-KR" altLang="en-US">
                <a:latin typeface="Arial" panose="020B0604020202020204" pitchFamily="34" charset="0"/>
              </a:rPr>
              <a:t>을 조회 가능</a:t>
            </a:r>
            <a:endParaRPr lang="en-US" altLang="ko-KR">
              <a:latin typeface="Arial" panose="020B0604020202020204" pitchFamily="34" charset="0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endParaRPr lang="en-US" altLang="ko-KR">
              <a:latin typeface="Arial" panose="020B0604020202020204" pitchFamily="34" charset="0"/>
            </a:endParaRPr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8143780E-97CA-83C3-0AAD-8D8E02662EF8}"/>
              </a:ext>
            </a:extLst>
          </p:cNvPr>
          <p:cNvCxnSpPr/>
          <p:nvPr/>
        </p:nvCxnSpPr>
        <p:spPr>
          <a:xfrm flipH="1" flipV="1">
            <a:off x="7712075" y="4191000"/>
            <a:ext cx="257175" cy="53822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D731B98D-521C-4AE0-6F2B-DEE57652EC3E}"/>
              </a:ext>
            </a:extLst>
          </p:cNvPr>
          <p:cNvSpPr/>
          <p:nvPr/>
        </p:nvSpPr>
        <p:spPr>
          <a:xfrm>
            <a:off x="459139" y="5391149"/>
            <a:ext cx="4309711" cy="33230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5" name="그림 24" descr="텍스트, 스크린샷, 사각형, 직사각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583CCBA-0846-2551-0672-DA336CD609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6163" y="199096"/>
            <a:ext cx="2167137" cy="1683700"/>
          </a:xfrm>
          <a:prstGeom prst="rect">
            <a:avLst/>
          </a:prstGeom>
        </p:spPr>
      </p:pic>
      <p:sp>
        <p:nvSpPr>
          <p:cNvPr id="26" name="직사각형 25">
            <a:extLst>
              <a:ext uri="{FF2B5EF4-FFF2-40B4-BE49-F238E27FC236}">
                <a16:creationId xmlns:a16="http://schemas.microsoft.com/office/drawing/2014/main" id="{6F031A47-F12C-1038-DF35-22D597E923B4}"/>
              </a:ext>
            </a:extLst>
          </p:cNvPr>
          <p:cNvSpPr/>
          <p:nvPr/>
        </p:nvSpPr>
        <p:spPr>
          <a:xfrm>
            <a:off x="8074025" y="1019837"/>
            <a:ext cx="425450" cy="447014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40BF3786-1DB2-2F74-3510-6CC1C2B1D8B2}"/>
              </a:ext>
            </a:extLst>
          </p:cNvPr>
          <p:cNvCxnSpPr>
            <a:cxnSpLocks/>
          </p:cNvCxnSpPr>
          <p:nvPr/>
        </p:nvCxnSpPr>
        <p:spPr>
          <a:xfrm flipV="1">
            <a:off x="7042150" y="1466850"/>
            <a:ext cx="1095375" cy="8418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77776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0ABB7F-C484-7A50-A94B-C142CE435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7091E0-1D93-2078-3655-E9AEF733E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4" y="10731"/>
            <a:ext cx="10515600" cy="1325563"/>
          </a:xfrm>
        </p:spPr>
        <p:txBody>
          <a:bodyPr/>
          <a:lstStyle/>
          <a:p>
            <a:r>
              <a:rPr lang="en-US" altLang="ko-KR" dirty="0"/>
              <a:t>4. Simulation </a:t>
            </a:r>
            <a:r>
              <a:rPr lang="ko-KR" altLang="en-US" dirty="0"/>
              <a:t>검증</a:t>
            </a:r>
          </a:p>
        </p:txBody>
      </p:sp>
      <p:pic>
        <p:nvPicPr>
          <p:cNvPr id="10" name="그림 9" descr="스크린샷, 전자제품, 다채로움, 회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74AF302-AC3C-06C3-D81B-64049A265A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88"/>
          <a:stretch>
            <a:fillRect/>
          </a:stretch>
        </p:blipFill>
        <p:spPr>
          <a:xfrm>
            <a:off x="337615" y="1001630"/>
            <a:ext cx="11516770" cy="4494602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7E1615E0-50F5-9CCC-0B43-30D647D3D76D}"/>
              </a:ext>
            </a:extLst>
          </p:cNvPr>
          <p:cNvSpPr/>
          <p:nvPr/>
        </p:nvSpPr>
        <p:spPr>
          <a:xfrm>
            <a:off x="377190" y="1573653"/>
            <a:ext cx="11437620" cy="18288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9D49F3B-F8AB-2C27-4AA3-37731ACD12F6}"/>
              </a:ext>
            </a:extLst>
          </p:cNvPr>
          <p:cNvSpPr/>
          <p:nvPr/>
        </p:nvSpPr>
        <p:spPr>
          <a:xfrm>
            <a:off x="337615" y="5185533"/>
            <a:ext cx="11437620" cy="18288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highlight>
                <a:srgbClr val="FF0000"/>
              </a:highlight>
            </a:endParaRP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6D173EA0-63FE-E9CD-DE21-5FA14B4FCD00}"/>
              </a:ext>
            </a:extLst>
          </p:cNvPr>
          <p:cNvCxnSpPr>
            <a:cxnSpLocks/>
          </p:cNvCxnSpPr>
          <p:nvPr/>
        </p:nvCxnSpPr>
        <p:spPr>
          <a:xfrm flipV="1">
            <a:off x="5250180" y="1081549"/>
            <a:ext cx="0" cy="438518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1">
            <a:extLst>
              <a:ext uri="{FF2B5EF4-FFF2-40B4-BE49-F238E27FC236}">
                <a16:creationId xmlns:a16="http://schemas.microsoft.com/office/drawing/2014/main" id="{C2C5905D-7CFD-A925-697E-E46F3A2E46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917" y="5500150"/>
            <a:ext cx="11618165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ko-KR" sz="1600" dirty="0" err="1">
                <a:latin typeface="Arial" panose="020B0604020202020204" pitchFamily="34" charset="0"/>
              </a:rPr>
              <a:t>Key_push</a:t>
            </a:r>
            <a:r>
              <a:rPr lang="en-US" altLang="ko-KR" sz="1600" dirty="0">
                <a:latin typeface="Arial" panose="020B0604020202020204" pitchFamily="34" charset="0"/>
              </a:rPr>
              <a:t> [4:0]</a:t>
            </a:r>
            <a:r>
              <a:rPr lang="ko-KR" altLang="en-US" sz="1600" dirty="0">
                <a:latin typeface="Arial" panose="020B0604020202020204" pitchFamily="34" charset="0"/>
              </a:rPr>
              <a:t>이 </a:t>
            </a:r>
            <a:r>
              <a:rPr lang="en-US" altLang="ko-KR" sz="1600" dirty="0">
                <a:latin typeface="Arial" panose="020B0604020202020204" pitchFamily="34" charset="0"/>
              </a:rPr>
              <a:t>20</a:t>
            </a:r>
            <a:r>
              <a:rPr lang="ko-KR" altLang="en-US" sz="1600" dirty="0">
                <a:latin typeface="Arial" panose="020B0604020202020204" pitchFamily="34" charset="0"/>
              </a:rPr>
              <a:t>일 때</a:t>
            </a:r>
            <a:r>
              <a:rPr lang="en-US" altLang="ko-KR" sz="1600" dirty="0">
                <a:latin typeface="Arial" panose="020B0604020202020204" pitchFamily="34" charset="0"/>
              </a:rPr>
              <a:t>, </a:t>
            </a:r>
            <a:r>
              <a:rPr lang="ko-KR" altLang="en-US" sz="1600" dirty="0">
                <a:latin typeface="Arial" panose="020B0604020202020204" pitchFamily="34" charset="0"/>
              </a:rPr>
              <a:t>즉</a:t>
            </a:r>
            <a:r>
              <a:rPr lang="en-US" altLang="ko-KR" sz="1600" dirty="0">
                <a:latin typeface="Arial" panose="020B0604020202020204" pitchFamily="34" charset="0"/>
              </a:rPr>
              <a:t>, key 20</a:t>
            </a:r>
            <a:r>
              <a:rPr lang="ko-KR" altLang="en-US" sz="1600" dirty="0">
                <a:latin typeface="Arial" panose="020B0604020202020204" pitchFamily="34" charset="0"/>
              </a:rPr>
              <a:t>번을 누르면 </a:t>
            </a:r>
            <a:r>
              <a:rPr lang="en-US" altLang="ko-KR" sz="1600" dirty="0">
                <a:latin typeface="Arial" panose="020B0604020202020204" pitchFamily="34" charset="0"/>
              </a:rPr>
              <a:t>Timer</a:t>
            </a:r>
            <a:r>
              <a:rPr lang="ko-KR" altLang="en-US" sz="1600" dirty="0">
                <a:latin typeface="Arial" panose="020B0604020202020204" pitchFamily="34" charset="0"/>
              </a:rPr>
              <a:t>에서 </a:t>
            </a:r>
            <a:r>
              <a:rPr lang="en-US" altLang="ko-KR" sz="1600" dirty="0">
                <a:latin typeface="Arial" panose="020B0604020202020204" pitchFamily="34" charset="0"/>
              </a:rPr>
              <a:t>Stopwatch</a:t>
            </a:r>
            <a:r>
              <a:rPr lang="ko-KR" altLang="en-US" sz="1600" dirty="0">
                <a:latin typeface="Arial" panose="020B0604020202020204" pitchFamily="34" charset="0"/>
              </a:rPr>
              <a:t>로 모드 변경</a:t>
            </a:r>
            <a:r>
              <a:rPr lang="en-US" altLang="ko-KR" sz="1600" dirty="0">
                <a:latin typeface="Arial" panose="020B0604020202020204" pitchFamily="34" charset="0"/>
              </a:rPr>
              <a:t>.</a:t>
            </a:r>
            <a:r>
              <a:rPr lang="ko-KR" altLang="en-US" sz="1600" dirty="0">
                <a:latin typeface="Arial" panose="020B0604020202020204" pitchFamily="34" charset="0"/>
              </a:rPr>
              <a:t> 이는</a:t>
            </a:r>
            <a:r>
              <a:rPr lang="en-US" altLang="ko-KR" sz="1600" dirty="0">
                <a:latin typeface="Arial" panose="020B0604020202020204" pitchFamily="34" charset="0"/>
              </a:rPr>
              <a:t>, </a:t>
            </a:r>
            <a:r>
              <a:rPr lang="en-US" altLang="ko-KR" sz="1600" b="1" dirty="0" err="1">
                <a:solidFill>
                  <a:srgbClr val="FFC000"/>
                </a:solidFill>
                <a:latin typeface="Arial" panose="020B0604020202020204" pitchFamily="34" charset="0"/>
              </a:rPr>
              <a:t>r_mode_state</a:t>
            </a:r>
            <a:r>
              <a:rPr lang="ko-KR" altLang="en-US" sz="1600" dirty="0">
                <a:latin typeface="Arial" panose="020B0604020202020204" pitchFamily="34" charset="0"/>
              </a:rPr>
              <a:t>가 </a:t>
            </a:r>
            <a:r>
              <a:rPr lang="en-US" altLang="ko-KR" sz="1600" dirty="0">
                <a:latin typeface="Arial" panose="020B0604020202020204" pitchFamily="34" charset="0"/>
              </a:rPr>
              <a:t>0</a:t>
            </a:r>
            <a:r>
              <a:rPr lang="ko-KR" altLang="en-US" sz="1600" dirty="0">
                <a:latin typeface="Arial" panose="020B0604020202020204" pitchFamily="34" charset="0"/>
              </a:rPr>
              <a:t>→</a:t>
            </a:r>
            <a:r>
              <a:rPr lang="en-US" altLang="ko-KR" sz="1600" dirty="0">
                <a:latin typeface="Arial" panose="020B0604020202020204" pitchFamily="34" charset="0"/>
              </a:rPr>
              <a:t>1</a:t>
            </a:r>
            <a:r>
              <a:rPr lang="ko-KR" altLang="en-US" sz="1600" dirty="0">
                <a:latin typeface="Arial" panose="020B0604020202020204" pitchFamily="34" charset="0"/>
              </a:rPr>
              <a:t>로 값으로 확인 가능</a:t>
            </a:r>
            <a:endParaRPr lang="en-US" altLang="ko-KR" sz="1600" dirty="0">
              <a:latin typeface="Arial" panose="020B0604020202020204" pitchFamily="34" charset="0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endParaRPr lang="en-US" altLang="ko-KR" sz="1600" dirty="0">
              <a:latin typeface="Arial" panose="020B0604020202020204" pitchFamily="34" charset="0"/>
            </a:endParaRPr>
          </a:p>
          <a:p>
            <a:pPr marL="285750" lvl="0" indent="-28575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ko-KR" sz="1600" dirty="0" err="1">
                <a:latin typeface="Arial" panose="020B0604020202020204" pitchFamily="34" charset="0"/>
              </a:rPr>
              <a:t>Start_sw</a:t>
            </a:r>
            <a:r>
              <a:rPr lang="ko-KR" altLang="en-US" sz="1600" dirty="0">
                <a:latin typeface="Arial" panose="020B0604020202020204" pitchFamily="34" charset="0"/>
              </a:rPr>
              <a:t>가 누르면</a:t>
            </a:r>
            <a:r>
              <a:rPr lang="en-US" altLang="ko-KR" sz="1600" dirty="0">
                <a:latin typeface="Arial" panose="020B0604020202020204" pitchFamily="34" charset="0"/>
              </a:rPr>
              <a:t>, stopwatch</a:t>
            </a:r>
            <a:r>
              <a:rPr lang="ko-KR" altLang="en-US" sz="1600" dirty="0">
                <a:latin typeface="Arial" panose="020B0604020202020204" pitchFamily="34" charset="0"/>
              </a:rPr>
              <a:t> 기능이 활성화 되어 </a:t>
            </a:r>
            <a:r>
              <a:rPr lang="en-US" altLang="ko-KR" sz="1600" dirty="0">
                <a:latin typeface="Arial" panose="020B0604020202020204" pitchFamily="34" charset="0"/>
              </a:rPr>
              <a:t>7-segment(</a:t>
            </a:r>
            <a:r>
              <a:rPr lang="en-US" altLang="ko-KR" sz="1600" b="1" dirty="0">
                <a:solidFill>
                  <a:srgbClr val="FF0000"/>
                </a:solidFill>
                <a:latin typeface="Arial" panose="020B0604020202020204" pitchFamily="34" charset="0"/>
              </a:rPr>
              <a:t>w_bcd8d[31:0]</a:t>
            </a:r>
            <a:r>
              <a:rPr lang="en-US" altLang="ko-KR" sz="1600" dirty="0">
                <a:latin typeface="Arial" panose="020B0604020202020204" pitchFamily="34" charset="0"/>
              </a:rPr>
              <a:t>) </a:t>
            </a:r>
            <a:r>
              <a:rPr lang="ko-KR" altLang="en-US" sz="1600" dirty="0">
                <a:latin typeface="Arial" panose="020B0604020202020204" pitchFamily="34" charset="0"/>
              </a:rPr>
              <a:t>화면에 </a:t>
            </a:r>
            <a:r>
              <a:rPr lang="en-US" altLang="ko-KR" sz="1600" dirty="0">
                <a:latin typeface="Arial" panose="020B0604020202020204" pitchFamily="34" charset="0"/>
              </a:rPr>
              <a:t>0</a:t>
            </a:r>
            <a:r>
              <a:rPr lang="ko-KR" altLang="en-US" sz="1600" dirty="0">
                <a:latin typeface="Arial" panose="020B0604020202020204" pitchFamily="34" charset="0"/>
              </a:rPr>
              <a:t>부터 </a:t>
            </a:r>
            <a:r>
              <a:rPr lang="en-US" altLang="ko-KR" sz="1600" dirty="0">
                <a:latin typeface="Arial" panose="020B0604020202020204" pitchFamily="34" charset="0"/>
              </a:rPr>
              <a:t>count up</a:t>
            </a:r>
            <a:r>
              <a:rPr lang="ko-KR" altLang="en-US" sz="1600" dirty="0">
                <a:latin typeface="Arial" panose="020B0604020202020204" pitchFamily="34" charset="0"/>
              </a:rPr>
              <a:t>되는 것을 확인 가능</a:t>
            </a:r>
            <a:endParaRPr lang="en-US" altLang="ko-KR" sz="1600" dirty="0">
              <a:latin typeface="Arial" panose="020B0604020202020204" pitchFamily="34" charset="0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645A74A-79A9-319D-088A-C70C2AF89187}"/>
              </a:ext>
            </a:extLst>
          </p:cNvPr>
          <p:cNvSpPr/>
          <p:nvPr/>
        </p:nvSpPr>
        <p:spPr>
          <a:xfrm>
            <a:off x="383033" y="1746413"/>
            <a:ext cx="3569517" cy="331368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56452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45958-1198-BE6F-ADFE-0F20FFC814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스크린샷, 다채로움, 전자제품, 회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CA25AE0-6A20-CF4A-F28A-94EE634245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348" y="402154"/>
            <a:ext cx="11705304" cy="4635390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18570F2E-7125-7287-E155-34832AFD7643}"/>
              </a:ext>
            </a:extLst>
          </p:cNvPr>
          <p:cNvSpPr/>
          <p:nvPr/>
        </p:nvSpPr>
        <p:spPr>
          <a:xfrm>
            <a:off x="258962" y="3799185"/>
            <a:ext cx="11705304" cy="18288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highlight>
                <a:srgbClr val="FF0000"/>
              </a:highlight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D050E64-AF16-8964-2B8C-4A01087C8E54}"/>
              </a:ext>
            </a:extLst>
          </p:cNvPr>
          <p:cNvSpPr/>
          <p:nvPr/>
        </p:nvSpPr>
        <p:spPr>
          <a:xfrm>
            <a:off x="227734" y="1178118"/>
            <a:ext cx="11705304" cy="24341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highlight>
                <a:srgbClr val="FF0000"/>
              </a:highlight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A1FEEBF-27A4-A01D-D6B8-4223F3CF56EA}"/>
              </a:ext>
            </a:extLst>
          </p:cNvPr>
          <p:cNvSpPr/>
          <p:nvPr/>
        </p:nvSpPr>
        <p:spPr>
          <a:xfrm>
            <a:off x="258962" y="4798128"/>
            <a:ext cx="11705304" cy="24341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highlight>
                <a:srgbClr val="FF0000"/>
              </a:highlight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5E541C97-DAA9-BDBF-0504-B350289B35CE}"/>
              </a:ext>
            </a:extLst>
          </p:cNvPr>
          <p:cNvCxnSpPr>
            <a:cxnSpLocks/>
          </p:cNvCxnSpPr>
          <p:nvPr/>
        </p:nvCxnSpPr>
        <p:spPr>
          <a:xfrm flipV="1">
            <a:off x="10284295" y="402154"/>
            <a:ext cx="0" cy="463539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">
            <a:extLst>
              <a:ext uri="{FF2B5EF4-FFF2-40B4-BE49-F238E27FC236}">
                <a16:creationId xmlns:a16="http://schemas.microsoft.com/office/drawing/2014/main" id="{B28332EA-4488-CD3A-AF3C-642E90E41C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303" y="5255519"/>
            <a:ext cx="11618165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Arial" panose="020B0604020202020204" pitchFamily="34" charset="0"/>
              </a:rPr>
              <a:t>Key</a:t>
            </a:r>
            <a:r>
              <a:rPr lang="ko-KR" altLang="en-US" sz="1600" dirty="0">
                <a:latin typeface="Arial" panose="020B0604020202020204" pitchFamily="34" charset="0"/>
              </a:rPr>
              <a:t> </a:t>
            </a:r>
            <a:r>
              <a:rPr lang="en-US" altLang="ko-KR" sz="1600" dirty="0">
                <a:latin typeface="Arial" panose="020B0604020202020204" pitchFamily="34" charset="0"/>
              </a:rPr>
              <a:t>15</a:t>
            </a:r>
            <a:r>
              <a:rPr lang="ko-KR" altLang="en-US" sz="1600" dirty="0">
                <a:latin typeface="Arial" panose="020B0604020202020204" pitchFamily="34" charset="0"/>
              </a:rPr>
              <a:t>가</a:t>
            </a:r>
            <a:r>
              <a:rPr lang="en-US" altLang="ko-KR" sz="1600" dirty="0">
                <a:latin typeface="Arial" panose="020B0604020202020204" pitchFamily="34" charset="0"/>
              </a:rPr>
              <a:t> </a:t>
            </a:r>
            <a:r>
              <a:rPr lang="ko-KR" altLang="en-US" sz="1600" dirty="0" err="1">
                <a:latin typeface="Arial" panose="020B0604020202020204" pitchFamily="34" charset="0"/>
              </a:rPr>
              <a:t>눌렸을때</a:t>
            </a:r>
            <a:r>
              <a:rPr lang="ko-KR" altLang="en-US" sz="1600" dirty="0">
                <a:latin typeface="Arial" panose="020B0604020202020204" pitchFamily="34" charset="0"/>
              </a:rPr>
              <a:t> </a:t>
            </a:r>
            <a:r>
              <a:rPr lang="en-US" altLang="ko-KR" sz="1600" dirty="0">
                <a:latin typeface="Arial" panose="020B0604020202020204" pitchFamily="34" charset="0"/>
              </a:rPr>
              <a:t>(</a:t>
            </a:r>
            <a:r>
              <a:rPr lang="en-US" altLang="ko-KR" sz="1600" dirty="0" err="1">
                <a:latin typeface="Arial" panose="020B0604020202020204" pitchFamily="34" charset="0"/>
              </a:rPr>
              <a:t>key_push</a:t>
            </a:r>
            <a:r>
              <a:rPr lang="en-US" altLang="ko-KR" sz="1600" dirty="0">
                <a:latin typeface="Arial" panose="020B0604020202020204" pitchFamily="34" charset="0"/>
              </a:rPr>
              <a:t>[4:0] == 15), </a:t>
            </a:r>
            <a:r>
              <a:rPr lang="ko-KR" altLang="en-US" sz="1600" dirty="0">
                <a:latin typeface="Arial" panose="020B0604020202020204" pitchFamily="34" charset="0"/>
              </a:rPr>
              <a:t>해당 값을 </a:t>
            </a:r>
            <a:r>
              <a:rPr lang="en-US" altLang="ko-KR" sz="1600" dirty="0">
                <a:latin typeface="Arial" panose="020B0604020202020204" pitchFamily="34" charset="0"/>
              </a:rPr>
              <a:t>register</a:t>
            </a:r>
            <a:r>
              <a:rPr lang="ko-KR" altLang="en-US" sz="1600" dirty="0">
                <a:latin typeface="Arial" panose="020B0604020202020204" pitchFamily="34" charset="0"/>
              </a:rPr>
              <a:t>에 저장을 하고</a:t>
            </a:r>
            <a:r>
              <a:rPr lang="en-US" altLang="ko-KR" sz="1600" dirty="0">
                <a:latin typeface="Arial" panose="020B0604020202020204" pitchFamily="34" charset="0"/>
              </a:rPr>
              <a:t>, led</a:t>
            </a:r>
            <a:r>
              <a:rPr lang="ko-KR" altLang="en-US" sz="1600" dirty="0">
                <a:latin typeface="Arial" panose="020B0604020202020204" pitchFamily="34" charset="0"/>
              </a:rPr>
              <a:t>하나를 점화하여 저장된 점을 </a:t>
            </a:r>
            <a:r>
              <a:rPr lang="en-US" altLang="ko-KR" sz="1600" dirty="0" err="1">
                <a:solidFill>
                  <a:srgbClr val="FF0000"/>
                </a:solidFill>
                <a:latin typeface="Arial" panose="020B0604020202020204" pitchFamily="34" charset="0"/>
              </a:rPr>
              <a:t>o_led</a:t>
            </a:r>
            <a:r>
              <a:rPr lang="en-US" altLang="ko-KR" sz="1600" dirty="0">
                <a:solidFill>
                  <a:srgbClr val="FF0000"/>
                </a:solidFill>
                <a:latin typeface="Arial" panose="020B0604020202020204" pitchFamily="34" charset="0"/>
              </a:rPr>
              <a:t>[7:0]</a:t>
            </a:r>
            <a:r>
              <a:rPr lang="ko-KR" altLang="en-US" sz="1600" dirty="0">
                <a:latin typeface="Arial" panose="020B0604020202020204" pitchFamily="34" charset="0"/>
              </a:rPr>
              <a:t>에서</a:t>
            </a:r>
            <a:r>
              <a:rPr lang="en-US" altLang="ko-KR" sz="1600" dirty="0">
                <a:latin typeface="Arial" panose="020B0604020202020204" pitchFamily="34" charset="0"/>
              </a:rPr>
              <a:t> </a:t>
            </a:r>
            <a:r>
              <a:rPr lang="ko-KR" altLang="en-US" sz="1600" dirty="0">
                <a:latin typeface="Arial" panose="020B0604020202020204" pitchFamily="34" charset="0"/>
              </a:rPr>
              <a:t>확인 가능</a:t>
            </a:r>
            <a:r>
              <a:rPr lang="en-US" altLang="ko-KR" sz="1600" dirty="0">
                <a:latin typeface="Arial" panose="020B0604020202020204" pitchFamily="34" charset="0"/>
              </a:rPr>
              <a:t>. Key</a:t>
            </a:r>
            <a:r>
              <a:rPr lang="ko-KR" altLang="en-US" sz="1600" dirty="0">
                <a:latin typeface="Arial" panose="020B0604020202020204" pitchFamily="34" charset="0"/>
              </a:rPr>
              <a:t> </a:t>
            </a:r>
            <a:r>
              <a:rPr lang="en-US" altLang="ko-KR" sz="1600" dirty="0">
                <a:latin typeface="Arial" panose="020B0604020202020204" pitchFamily="34" charset="0"/>
              </a:rPr>
              <a:t>15</a:t>
            </a:r>
            <a:r>
              <a:rPr lang="ko-KR" altLang="en-US" sz="1600" dirty="0">
                <a:latin typeface="Arial" panose="020B0604020202020204" pitchFamily="34" charset="0"/>
              </a:rPr>
              <a:t>가 눌릴 때마다</a:t>
            </a:r>
            <a:r>
              <a:rPr lang="en-US" altLang="ko-KR" sz="1600" dirty="0">
                <a:latin typeface="Arial" panose="020B0604020202020204" pitchFamily="34" charset="0"/>
              </a:rPr>
              <a:t>, LSB</a:t>
            </a:r>
            <a:r>
              <a:rPr lang="ko-KR" altLang="en-US" sz="1600" dirty="0">
                <a:latin typeface="Arial" panose="020B0604020202020204" pitchFamily="34" charset="0"/>
              </a:rPr>
              <a:t>부터 </a:t>
            </a:r>
            <a:r>
              <a:rPr lang="en-US" altLang="ko-KR" sz="1600" dirty="0">
                <a:latin typeface="Arial" panose="020B0604020202020204" pitchFamily="34" charset="0"/>
              </a:rPr>
              <a:t>0</a:t>
            </a:r>
            <a:r>
              <a:rPr lang="ko-KR" altLang="en-US" sz="1600" dirty="0">
                <a:latin typeface="Arial" panose="020B0604020202020204" pitchFamily="34" charset="0"/>
              </a:rPr>
              <a:t>이 증가한다</a:t>
            </a:r>
            <a:r>
              <a:rPr lang="en-US" altLang="ko-KR" sz="1600" dirty="0">
                <a:latin typeface="Arial" panose="020B0604020202020204" pitchFamily="34" charset="0"/>
              </a:rPr>
              <a:t>.</a:t>
            </a:r>
          </a:p>
          <a:p>
            <a:pPr marL="285750" lvl="0" indent="-28575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ko-KR" sz="1600" dirty="0">
              <a:latin typeface="Arial" panose="020B0604020202020204" pitchFamily="34" charset="0"/>
            </a:endParaRPr>
          </a:p>
          <a:p>
            <a:pPr marL="285750" lvl="0" indent="-28575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Arial" panose="020B0604020202020204" pitchFamily="34" charset="0"/>
              </a:rPr>
              <a:t>Key</a:t>
            </a:r>
            <a:r>
              <a:rPr lang="ko-KR" altLang="en-US" sz="1600" dirty="0">
                <a:latin typeface="Arial" panose="020B0604020202020204" pitchFamily="34" charset="0"/>
              </a:rPr>
              <a:t> </a:t>
            </a:r>
            <a:r>
              <a:rPr lang="en-US" altLang="ko-KR" sz="1600" dirty="0">
                <a:latin typeface="Arial" panose="020B0604020202020204" pitchFamily="34" charset="0"/>
              </a:rPr>
              <a:t>10</a:t>
            </a:r>
            <a:r>
              <a:rPr lang="ko-KR" altLang="en-US" sz="1600" dirty="0">
                <a:latin typeface="Arial" panose="020B0604020202020204" pitchFamily="34" charset="0"/>
              </a:rPr>
              <a:t>이 눌렸을 때</a:t>
            </a:r>
            <a:r>
              <a:rPr lang="en-US" altLang="ko-KR" sz="1600" dirty="0">
                <a:latin typeface="Arial" panose="020B0604020202020204" pitchFamily="34" charset="0"/>
              </a:rPr>
              <a:t>(</a:t>
            </a:r>
            <a:r>
              <a:rPr lang="en-US" altLang="ko-KR" sz="1600" dirty="0" err="1">
                <a:latin typeface="Arial" panose="020B0604020202020204" pitchFamily="34" charset="0"/>
              </a:rPr>
              <a:t>key_push</a:t>
            </a:r>
            <a:r>
              <a:rPr lang="en-US" altLang="ko-KR" sz="1600" dirty="0">
                <a:latin typeface="Arial" panose="020B0604020202020204" pitchFamily="34" charset="0"/>
              </a:rPr>
              <a:t>[4:0]==10), register</a:t>
            </a:r>
            <a:r>
              <a:rPr lang="ko-KR" altLang="en-US" sz="1600" dirty="0">
                <a:latin typeface="Arial" panose="020B0604020202020204" pitchFamily="34" charset="0"/>
              </a:rPr>
              <a:t>에 저장된 값을 </a:t>
            </a:r>
            <a:r>
              <a:rPr lang="en-US" altLang="ko-KR" sz="1600" dirty="0">
                <a:latin typeface="Arial" panose="020B0604020202020204" pitchFamily="34" charset="0"/>
              </a:rPr>
              <a:t>7-segment</a:t>
            </a:r>
            <a:r>
              <a:rPr lang="ko-KR" altLang="en-US" sz="1600" dirty="0">
                <a:latin typeface="Arial" panose="020B0604020202020204" pitchFamily="34" charset="0"/>
              </a:rPr>
              <a:t>에 출력한다</a:t>
            </a:r>
            <a:r>
              <a:rPr lang="en-US" altLang="ko-KR" sz="1600" dirty="0">
                <a:latin typeface="Arial" panose="020B0604020202020204" pitchFamily="34" charset="0"/>
              </a:rPr>
              <a:t>. </a:t>
            </a:r>
            <a:r>
              <a:rPr lang="ko-KR" altLang="en-US" sz="1600" dirty="0">
                <a:latin typeface="Arial" panose="020B0604020202020204" pitchFamily="34" charset="0"/>
              </a:rPr>
              <a:t>이는</a:t>
            </a:r>
            <a:r>
              <a:rPr lang="en-US" altLang="ko-KR" sz="1600" dirty="0">
                <a:latin typeface="Arial" panose="020B0604020202020204" pitchFamily="34" charset="0"/>
              </a:rPr>
              <a:t> </a:t>
            </a:r>
            <a:r>
              <a:rPr lang="en-US" altLang="ko-KR" sz="1600" dirty="0">
                <a:solidFill>
                  <a:srgbClr val="FF0000"/>
                </a:solidFill>
                <a:latin typeface="Arial" panose="020B0604020202020204" pitchFamily="34" charset="0"/>
              </a:rPr>
              <a:t>w_bcd8d[31:0]</a:t>
            </a:r>
            <a:r>
              <a:rPr lang="ko-KR" altLang="en-US" sz="1600" dirty="0">
                <a:latin typeface="Arial" panose="020B0604020202020204" pitchFamily="34" charset="0"/>
              </a:rPr>
              <a:t>을 보면 확인할 수 있으며</a:t>
            </a:r>
            <a:r>
              <a:rPr lang="en-US" altLang="ko-KR" sz="1600" dirty="0">
                <a:latin typeface="Arial" panose="020B0604020202020204" pitchFamily="34" charset="0"/>
              </a:rPr>
              <a:t>, </a:t>
            </a:r>
            <a:r>
              <a:rPr lang="ko-KR" altLang="en-US" sz="1600" dirty="0">
                <a:latin typeface="Arial" panose="020B0604020202020204" pitchFamily="34" charset="0"/>
              </a:rPr>
              <a:t>앞 </a:t>
            </a:r>
            <a:r>
              <a:rPr lang="en-US" altLang="ko-KR" sz="1600" dirty="0">
                <a:latin typeface="Arial" panose="020B0604020202020204" pitchFamily="34" charset="0"/>
              </a:rPr>
              <a:t>2</a:t>
            </a:r>
            <a:r>
              <a:rPr lang="ko-KR" altLang="en-US" sz="1600" dirty="0">
                <a:latin typeface="Arial" panose="020B0604020202020204" pitchFamily="34" charset="0"/>
              </a:rPr>
              <a:t>자리는 기록된 번호 이후 </a:t>
            </a:r>
            <a:r>
              <a:rPr lang="en-US" altLang="ko-KR" sz="1600" dirty="0">
                <a:latin typeface="Arial" panose="020B0604020202020204" pitchFamily="34" charset="0"/>
              </a:rPr>
              <a:t>6</a:t>
            </a:r>
            <a:r>
              <a:rPr lang="ko-KR" altLang="en-US" sz="1600" dirty="0">
                <a:latin typeface="Arial" panose="020B0604020202020204" pitchFamily="34" charset="0"/>
              </a:rPr>
              <a:t>자리 숫자는 기록된 시간을 의미한다</a:t>
            </a:r>
            <a:r>
              <a:rPr lang="en-US" altLang="ko-KR" sz="1600" dirty="0"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911559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9EC327-DF59-8726-6119-6E1E29AB7F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스크린샷, 다채로움, 디스플레이, 전자제품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FB9DCDC-6200-FCE0-9057-0673614739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398" y="366974"/>
            <a:ext cx="11506060" cy="5030308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149E5EA1-D77E-D2B3-319E-2B4F432B4011}"/>
              </a:ext>
            </a:extLst>
          </p:cNvPr>
          <p:cNvSpPr/>
          <p:nvPr/>
        </p:nvSpPr>
        <p:spPr>
          <a:xfrm>
            <a:off x="371165" y="3996685"/>
            <a:ext cx="11506060" cy="23032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highlight>
                <a:srgbClr val="FF0000"/>
              </a:highlight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B11DC89-1DE9-B573-E45B-BBBE80EB2039}"/>
              </a:ext>
            </a:extLst>
          </p:cNvPr>
          <p:cNvSpPr/>
          <p:nvPr/>
        </p:nvSpPr>
        <p:spPr>
          <a:xfrm>
            <a:off x="390398" y="1217304"/>
            <a:ext cx="11525292" cy="24341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highlight>
                <a:srgbClr val="FF0000"/>
              </a:highlight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30CFCC5-C045-74B6-57D6-F26F86740367}"/>
              </a:ext>
            </a:extLst>
          </p:cNvPr>
          <p:cNvSpPr/>
          <p:nvPr/>
        </p:nvSpPr>
        <p:spPr>
          <a:xfrm>
            <a:off x="390398" y="5109936"/>
            <a:ext cx="11506060" cy="24341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highlight>
                <a:srgbClr val="FF0000"/>
              </a:highlight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EB534211-1EEB-7CDA-C734-78B2971550B1}"/>
              </a:ext>
            </a:extLst>
          </p:cNvPr>
          <p:cNvCxnSpPr>
            <a:cxnSpLocks/>
          </p:cNvCxnSpPr>
          <p:nvPr/>
        </p:nvCxnSpPr>
        <p:spPr>
          <a:xfrm flipV="1">
            <a:off x="11015931" y="366974"/>
            <a:ext cx="0" cy="494244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">
            <a:extLst>
              <a:ext uri="{FF2B5EF4-FFF2-40B4-BE49-F238E27FC236}">
                <a16:creationId xmlns:a16="http://schemas.microsoft.com/office/drawing/2014/main" id="{789E2AA5-2513-8443-6236-E7B8B472F1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303" y="5624851"/>
            <a:ext cx="11618165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Arial" panose="020B0604020202020204" pitchFamily="34" charset="0"/>
              </a:rPr>
              <a:t>앞과 동일한 경우이며</a:t>
            </a:r>
            <a:r>
              <a:rPr lang="en-US" altLang="ko-KR" sz="1600" dirty="0">
                <a:latin typeface="Arial" panose="020B0604020202020204" pitchFamily="34" charset="0"/>
              </a:rPr>
              <a:t>, Key 10</a:t>
            </a:r>
            <a:r>
              <a:rPr lang="ko-KR" altLang="en-US" sz="1600" dirty="0">
                <a:latin typeface="Arial" panose="020B0604020202020204" pitchFamily="34" charset="0"/>
              </a:rPr>
              <a:t>이 </a:t>
            </a:r>
            <a:r>
              <a:rPr lang="en-US" altLang="ko-KR" sz="1600" dirty="0">
                <a:latin typeface="Arial" panose="020B0604020202020204" pitchFamily="34" charset="0"/>
              </a:rPr>
              <a:t>2</a:t>
            </a:r>
            <a:r>
              <a:rPr lang="ko-KR" altLang="en-US" sz="1600" dirty="0">
                <a:latin typeface="Arial" panose="020B0604020202020204" pitchFamily="34" charset="0"/>
              </a:rPr>
              <a:t>번 눌린 상태를 보여준다</a:t>
            </a:r>
            <a:r>
              <a:rPr lang="en-US" altLang="ko-KR" sz="1600" dirty="0">
                <a:latin typeface="Arial" panose="020B0604020202020204" pitchFamily="34" charset="0"/>
              </a:rPr>
              <a:t>. </a:t>
            </a:r>
            <a:r>
              <a:rPr lang="en-US" altLang="ko-KR" sz="1600" dirty="0">
                <a:solidFill>
                  <a:srgbClr val="FF0000"/>
                </a:solidFill>
                <a:latin typeface="Arial" panose="020B0604020202020204" pitchFamily="34" charset="0"/>
              </a:rPr>
              <a:t>w_bcd8d[31:0]</a:t>
            </a:r>
            <a:r>
              <a:rPr lang="ko-KR" altLang="en-US" sz="1600" dirty="0">
                <a:latin typeface="Arial" panose="020B0604020202020204" pitchFamily="34" charset="0"/>
              </a:rPr>
              <a:t>에서 보듯이</a:t>
            </a:r>
            <a:r>
              <a:rPr lang="en-US" altLang="ko-KR" sz="1600" dirty="0">
                <a:latin typeface="Arial" panose="020B0604020202020204" pitchFamily="34" charset="0"/>
              </a:rPr>
              <a:t>, </a:t>
            </a:r>
            <a:r>
              <a:rPr lang="ko-KR" altLang="en-US" sz="1600" dirty="0">
                <a:latin typeface="Arial" panose="020B0604020202020204" pitchFamily="34" charset="0"/>
              </a:rPr>
              <a:t>값이 </a:t>
            </a:r>
            <a:r>
              <a:rPr lang="en-US" altLang="ko-KR" sz="1600" dirty="0">
                <a:latin typeface="Arial" panose="020B0604020202020204" pitchFamily="34" charset="0"/>
              </a:rPr>
              <a:t>’02_000017’</a:t>
            </a:r>
            <a:r>
              <a:rPr lang="ko-KR" altLang="en-US" sz="1600" dirty="0">
                <a:latin typeface="Arial" panose="020B0604020202020204" pitchFamily="34" charset="0"/>
              </a:rPr>
              <a:t> 이고 </a:t>
            </a:r>
            <a:r>
              <a:rPr lang="en-US" altLang="ko-KR" sz="1600" dirty="0">
                <a:latin typeface="Arial" panose="020B0604020202020204" pitchFamily="34" charset="0"/>
              </a:rPr>
              <a:t>2</a:t>
            </a:r>
            <a:r>
              <a:rPr lang="ko-KR" altLang="en-US" sz="1600" dirty="0">
                <a:latin typeface="Arial" panose="020B0604020202020204" pitchFamily="34" charset="0"/>
              </a:rPr>
              <a:t>번째로 저장</a:t>
            </a:r>
            <a:r>
              <a:rPr lang="en-US" altLang="ko-KR" sz="1600" dirty="0">
                <a:latin typeface="Arial" panose="020B0604020202020204" pitchFamily="34" charset="0"/>
              </a:rPr>
              <a:t>(Lap)</a:t>
            </a:r>
            <a:r>
              <a:rPr lang="ko-KR" altLang="en-US" sz="1600" dirty="0">
                <a:latin typeface="Arial" panose="020B0604020202020204" pitchFamily="34" charset="0"/>
              </a:rPr>
              <a:t>된 데이터이며</a:t>
            </a:r>
            <a:r>
              <a:rPr lang="en-US" altLang="ko-KR" sz="1600" dirty="0">
                <a:latin typeface="Arial" panose="020B0604020202020204" pitchFamily="34" charset="0"/>
              </a:rPr>
              <a:t>, </a:t>
            </a:r>
            <a:r>
              <a:rPr lang="ko-KR" altLang="en-US" sz="1600" dirty="0">
                <a:latin typeface="Arial" panose="020B0604020202020204" pitchFamily="34" charset="0"/>
              </a:rPr>
              <a:t>데이터 값은 </a:t>
            </a:r>
            <a:r>
              <a:rPr lang="en-US" altLang="ko-KR" sz="1600" dirty="0">
                <a:latin typeface="Arial" panose="020B0604020202020204" pitchFamily="34" charset="0"/>
              </a:rPr>
              <a:t>0.17</a:t>
            </a:r>
            <a:r>
              <a:rPr lang="ko-KR" altLang="en-US" sz="1600" dirty="0">
                <a:latin typeface="Arial" panose="020B0604020202020204" pitchFamily="34" charset="0"/>
              </a:rPr>
              <a:t>초임을 알 수 있다</a:t>
            </a:r>
            <a:r>
              <a:rPr lang="en-US" altLang="ko-KR" sz="1600" dirty="0"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002758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D98611-297C-A298-3437-09454868C4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5. </a:t>
            </a:r>
            <a:r>
              <a:rPr lang="ko-KR" altLang="en-US"/>
              <a:t>프로젝트 소감 및 개선점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26F4CE96-A214-265B-CFD7-215484BBD9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2397950"/>
            <a:ext cx="5029200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ko-KR" altLang="en-US" sz="1600">
                <a:latin typeface="Arial" panose="020B0604020202020204" pitchFamily="34" charset="0"/>
              </a:rPr>
              <a:t>이번 프로젝트를 통해 기존 </a:t>
            </a:r>
            <a:r>
              <a:rPr lang="en-US" altLang="ko-KR" sz="1600">
                <a:latin typeface="Arial" panose="020B0604020202020204" pitchFamily="34" charset="0"/>
              </a:rPr>
              <a:t>Timer </a:t>
            </a:r>
            <a:r>
              <a:rPr lang="ko-KR" altLang="en-US" sz="1600">
                <a:latin typeface="Arial" panose="020B0604020202020204" pitchFamily="34" charset="0"/>
              </a:rPr>
              <a:t>기능에 </a:t>
            </a:r>
            <a:r>
              <a:rPr lang="en-US" altLang="ko-KR" sz="1600">
                <a:latin typeface="Arial" panose="020B0604020202020204" pitchFamily="34" charset="0"/>
              </a:rPr>
              <a:t>Stopwatch</a:t>
            </a:r>
            <a:r>
              <a:rPr lang="ko-KR" altLang="en-US" sz="1600">
                <a:latin typeface="Arial" panose="020B0604020202020204" pitchFamily="34" charset="0"/>
              </a:rPr>
              <a:t>와 </a:t>
            </a:r>
            <a:r>
              <a:rPr lang="en-US" altLang="ko-KR" sz="1600">
                <a:latin typeface="Arial" panose="020B0604020202020204" pitchFamily="34" charset="0"/>
              </a:rPr>
              <a:t>Lap </a:t>
            </a:r>
            <a:r>
              <a:rPr lang="ko-KR" altLang="en-US" sz="1600">
                <a:latin typeface="Arial" panose="020B0604020202020204" pitchFamily="34" charset="0"/>
              </a:rPr>
              <a:t>기능을 추가하면서 </a:t>
            </a:r>
            <a:r>
              <a:rPr lang="en-US" altLang="ko-KR" sz="1600">
                <a:latin typeface="Arial" panose="020B0604020202020204" pitchFamily="34" charset="0"/>
              </a:rPr>
              <a:t>Verilog</a:t>
            </a:r>
            <a:r>
              <a:rPr lang="ko-KR" altLang="en-US" sz="1600">
                <a:latin typeface="Arial" panose="020B0604020202020204" pitchFamily="34" charset="0"/>
              </a:rPr>
              <a:t>를 활용한 하드웨어 설계와 모듈 간 통신 구조에 대한 이해도를 높일 수 있었습니다</a:t>
            </a:r>
            <a:r>
              <a:rPr lang="en-US" altLang="ko-KR" sz="1600">
                <a:latin typeface="Arial" panose="020B0604020202020204" pitchFamily="34" charset="0"/>
              </a:rPr>
              <a:t>. </a:t>
            </a:r>
            <a:r>
              <a:rPr lang="ko-KR" altLang="en-US" sz="1600">
                <a:latin typeface="Arial" panose="020B0604020202020204" pitchFamily="34" charset="0"/>
              </a:rPr>
              <a:t>특히 시뮬레이션과 실제 </a:t>
            </a:r>
            <a:r>
              <a:rPr lang="en-US" altLang="ko-KR" sz="1600">
                <a:latin typeface="Arial" panose="020B0604020202020204" pitchFamily="34" charset="0"/>
              </a:rPr>
              <a:t>Fpga </a:t>
            </a:r>
            <a:r>
              <a:rPr lang="ko-KR" altLang="en-US" sz="1600">
                <a:latin typeface="Arial" panose="020B0604020202020204" pitchFamily="34" charset="0"/>
              </a:rPr>
              <a:t>보드에서의 검증을 통해 이론과 실제의 차이를 경험할 수 있었으며 실제 설계한대로 시뮬레이션과 </a:t>
            </a:r>
            <a:r>
              <a:rPr lang="en-US" altLang="ko-KR" sz="1600">
                <a:latin typeface="Arial" panose="020B0604020202020204" pitchFamily="34" charset="0"/>
              </a:rPr>
              <a:t>Fpga </a:t>
            </a:r>
            <a:r>
              <a:rPr lang="ko-KR" altLang="en-US" sz="1600">
                <a:latin typeface="Arial" panose="020B0604020202020204" pitchFamily="34" charset="0"/>
              </a:rPr>
              <a:t>보드에서 구현되었을 때 큰 성취감을 느낄 수 있었습니다</a:t>
            </a:r>
            <a:r>
              <a:rPr lang="en-US" altLang="ko-KR" sz="1600">
                <a:latin typeface="Arial" panose="020B0604020202020204" pitchFamily="34" charset="0"/>
              </a:rPr>
              <a:t>.</a:t>
            </a:r>
            <a:endParaRPr lang="en-US" altLang="ko-KR" sz="1600" dirty="0">
              <a:latin typeface="Arial" panose="020B0604020202020204" pitchFamily="34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BAD18E2F-7EE1-511E-7D0A-A2430F5730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6200" y="2521060"/>
            <a:ext cx="5029200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ko-KR" altLang="en-US" sz="1600">
                <a:latin typeface="Arial" panose="020B0604020202020204" pitchFamily="34" charset="0"/>
              </a:rPr>
              <a:t>현재 최대의 </a:t>
            </a:r>
            <a:r>
              <a:rPr lang="en-US" altLang="ko-KR" sz="1600">
                <a:latin typeface="Arial" panose="020B0604020202020204" pitchFamily="34" charset="0"/>
              </a:rPr>
              <a:t>8</a:t>
            </a:r>
            <a:r>
              <a:rPr lang="ko-KR" altLang="en-US" sz="1600">
                <a:latin typeface="Arial" panose="020B0604020202020204" pitchFamily="34" charset="0"/>
              </a:rPr>
              <a:t>개의 </a:t>
            </a:r>
            <a:r>
              <a:rPr lang="en-US" altLang="ko-KR" sz="1600">
                <a:latin typeface="Arial" panose="020B0604020202020204" pitchFamily="34" charset="0"/>
              </a:rPr>
              <a:t>Lap time </a:t>
            </a:r>
            <a:r>
              <a:rPr lang="ko-KR" altLang="en-US" sz="1600">
                <a:latin typeface="Arial" panose="020B0604020202020204" pitchFamily="34" charset="0"/>
              </a:rPr>
              <a:t>저장만 가능한데</a:t>
            </a:r>
            <a:r>
              <a:rPr lang="en-US" altLang="ko-KR" sz="1600">
                <a:latin typeface="Arial" panose="020B0604020202020204" pitchFamily="34" charset="0"/>
              </a:rPr>
              <a:t>, </a:t>
            </a:r>
            <a:r>
              <a:rPr lang="ko-KR" altLang="en-US" sz="1600">
                <a:latin typeface="Arial" panose="020B0604020202020204" pitchFamily="34" charset="0"/>
              </a:rPr>
              <a:t>메모리 용량을 확장하여 더 많은 기록을 저장하도록 개선 가능 할 것 같습니다</a:t>
            </a:r>
            <a:r>
              <a:rPr lang="en-US" altLang="ko-KR" sz="1600">
                <a:latin typeface="Arial" panose="020B0604020202020204" pitchFamily="34" charset="0"/>
              </a:rPr>
              <a:t>.</a:t>
            </a:r>
          </a:p>
          <a:p>
            <a:pPr marL="285750" lvl="0" indent="-28575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ko-KR" sz="1600">
                <a:latin typeface="Arial" panose="020B0604020202020204" pitchFamily="34" charset="0"/>
              </a:rPr>
              <a:t>Lap time </a:t>
            </a:r>
            <a:r>
              <a:rPr lang="ko-KR" altLang="en-US" sz="1600">
                <a:latin typeface="Arial" panose="020B0604020202020204" pitchFamily="34" charset="0"/>
              </a:rPr>
              <a:t>삭제 및 초기화 기능 추가로 사용자의 편의성을 향상 시키면 좋을 것 같습니다</a:t>
            </a:r>
            <a:r>
              <a:rPr lang="en-US" altLang="ko-KR" sz="1600">
                <a:latin typeface="Arial" panose="020B0604020202020204" pitchFamily="34" charset="0"/>
              </a:rPr>
              <a:t>.</a:t>
            </a:r>
          </a:p>
          <a:p>
            <a:pPr marL="285750" lvl="0" indent="-28575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ko-KR" altLang="en-US" sz="1600">
                <a:latin typeface="Arial" panose="020B0604020202020204" pitchFamily="34" charset="0"/>
              </a:rPr>
              <a:t>분할 시간 기능을 추가하여 구간별로 시간 측정이 가능하도록 기능을 확장하면 좋을 것 같습니다</a:t>
            </a:r>
            <a:r>
              <a:rPr lang="en-US" altLang="ko-KR" sz="1600">
                <a:latin typeface="Arial" panose="020B0604020202020204" pitchFamily="34" charset="0"/>
              </a:rPr>
              <a:t>.</a:t>
            </a:r>
            <a:endParaRPr lang="en-US" altLang="ko-KR" sz="16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1384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B3C243-85CD-4DCD-F35A-75D638DC7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EEF17D-BF52-2CC2-88C1-BA812C42F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4" y="10731"/>
            <a:ext cx="10515600" cy="1325563"/>
          </a:xfrm>
        </p:spPr>
        <p:txBody>
          <a:bodyPr/>
          <a:lstStyle/>
          <a:p>
            <a:r>
              <a:rPr lang="en-US" altLang="ko-KR" dirty="0"/>
              <a:t>6</a:t>
            </a:r>
            <a:r>
              <a:rPr lang="en-US" altLang="ko-KR"/>
              <a:t>. </a:t>
            </a:r>
            <a:r>
              <a:rPr lang="en-US" altLang="ko-KR" dirty="0"/>
              <a:t>FPGA </a:t>
            </a:r>
            <a:r>
              <a:rPr lang="ko-KR" altLang="en-US" dirty="0"/>
              <a:t>보드 구현</a:t>
            </a:r>
          </a:p>
        </p:txBody>
      </p:sp>
      <p:pic>
        <p:nvPicPr>
          <p:cNvPr id="4" name="KakaoTalk_20251209_134728424">
            <a:hlinkClick r:id="" action="ppaction://media"/>
            <a:extLst>
              <a:ext uri="{FF2B5EF4-FFF2-40B4-BE49-F238E27FC236}">
                <a16:creationId xmlns:a16="http://schemas.microsoft.com/office/drawing/2014/main" id="{4BD6EA38-33B1-B96B-C023-DA0AE6059714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 rot="16200000">
            <a:off x="4152900" y="0"/>
            <a:ext cx="38862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7895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6232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3642</TotalTime>
  <Words>952</Words>
  <Application>Microsoft Office PowerPoint</Application>
  <PresentationFormat>와이드스크린</PresentationFormat>
  <Paragraphs>96</Paragraphs>
  <Slides>17</Slides>
  <Notes>0</Notes>
  <HiddenSlides>0</HiddenSlides>
  <MMClips>1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0" baseType="lpstr">
      <vt:lpstr>맑은 고딕</vt:lpstr>
      <vt:lpstr>Arial</vt:lpstr>
      <vt:lpstr>Office 테마</vt:lpstr>
      <vt:lpstr>FPGA 설계 </vt:lpstr>
      <vt:lpstr>PowerPoint 프레젠테이션</vt:lpstr>
      <vt:lpstr>1. 시나리오</vt:lpstr>
      <vt:lpstr>1. 시나리오</vt:lpstr>
      <vt:lpstr>2. 역할 분담</vt:lpstr>
      <vt:lpstr>3. Code 설명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4. Simulation 검증</vt:lpstr>
      <vt:lpstr>PowerPoint 프레젠테이션</vt:lpstr>
      <vt:lpstr>PowerPoint 프레젠테이션</vt:lpstr>
      <vt:lpstr>5. 프로젝트 소감 및 개선점</vt:lpstr>
      <vt:lpstr>6. FPGA 보드 구현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중현 윤</dc:creator>
  <cp:lastModifiedBy>민재 오</cp:lastModifiedBy>
  <cp:revision>36</cp:revision>
  <dcterms:created xsi:type="dcterms:W3CDTF">2025-09-30T07:06:13Z</dcterms:created>
  <dcterms:modified xsi:type="dcterms:W3CDTF">2025-12-16T11:46:05Z</dcterms:modified>
</cp:coreProperties>
</file>